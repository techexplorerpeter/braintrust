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95" r:id="rId2"/>
    <p:sldId id="5732" r:id="rId3"/>
    <p:sldId id="5729" r:id="rId4"/>
    <p:sldId id="5730" r:id="rId5"/>
    <p:sldId id="5731" r:id="rId6"/>
    <p:sldId id="5708" r:id="rId7"/>
    <p:sldId id="5702" r:id="rId8"/>
    <p:sldId id="5717" r:id="rId9"/>
    <p:sldId id="5703" r:id="rId10"/>
    <p:sldId id="5718" r:id="rId11"/>
    <p:sldId id="5704" r:id="rId12"/>
    <p:sldId id="5719" r:id="rId13"/>
    <p:sldId id="5705" r:id="rId14"/>
    <p:sldId id="5720" r:id="rId15"/>
    <p:sldId id="5706" r:id="rId16"/>
    <p:sldId id="5721" r:id="rId17"/>
    <p:sldId id="5707" r:id="rId18"/>
    <p:sldId id="5709" r:id="rId19"/>
    <p:sldId id="5710" r:id="rId20"/>
    <p:sldId id="5722" r:id="rId21"/>
    <p:sldId id="5723" r:id="rId22"/>
    <p:sldId id="5724" r:id="rId23"/>
    <p:sldId id="5725" r:id="rId24"/>
    <p:sldId id="5726" r:id="rId25"/>
    <p:sldId id="5727" r:id="rId26"/>
    <p:sldId id="5728" r:id="rId27"/>
    <p:sldId id="394" r:id="rId28"/>
  </p:sldIdLst>
  <p:sldSz cx="12192000" cy="6858000"/>
  <p:notesSz cx="6807200" cy="99393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3CDDD"/>
    <a:srgbClr val="FF0000"/>
    <a:srgbClr val="0075BE"/>
    <a:srgbClr val="87CFE6"/>
    <a:srgbClr val="034098"/>
    <a:srgbClr val="ED6C00"/>
    <a:srgbClr val="004098"/>
    <a:srgbClr val="0070C0"/>
    <a:srgbClr val="A20000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94321" autoAdjust="0"/>
  </p:normalViewPr>
  <p:slideViewPr>
    <p:cSldViewPr snapToGrid="0">
      <p:cViewPr varScale="1">
        <p:scale>
          <a:sx n="65" d="100"/>
          <a:sy n="65" d="100"/>
        </p:scale>
        <p:origin x="1008" y="8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270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AAE74-1D23-4331-87AE-9F588D91DA3B}" type="datetime1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FA1981-5D9E-4432-91C8-30605660E06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6CDEE0-B1AE-47F4-8329-A1A358C43B31}" type="datetime1">
              <a:rPr lang="zh-CN" altLang="en-US" smtClean="0"/>
              <a:t>2025/10/13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58596-22D8-40A6-8D38-46A82516CF6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677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31565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563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6171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1063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45075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229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759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644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1297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8912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37776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43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9668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54866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8477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9575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60320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56665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6984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846538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655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5646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00205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86CDEE0-B1AE-47F4-8329-A1A358C43B31}" type="datetime1">
              <a:rPr lang="zh-CN" altLang="en-US" smtClean="0"/>
              <a:t>2025/10/15</a:t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F258596-22D8-40A6-8D38-46A82516CF61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745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1680488" y="6540185"/>
            <a:ext cx="756000" cy="229235"/>
          </a:xfrm>
        </p:spPr>
        <p:txBody>
          <a:bodyPr/>
          <a:lstStyle>
            <a:lvl1pPr algn="ctr">
              <a:defRPr sz="8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  <a:t>2025/10/13</a:t>
            </a:fld>
            <a:endParaRPr lang="zh-CN" altLang="en-US" dirty="0"/>
          </a:p>
        </p:txBody>
      </p:sp>
      <p:pic>
        <p:nvPicPr>
          <p:cNvPr id="17" name="图片 16" descr="ppt1209(1)-03"/>
          <p:cNvPicPr>
            <a:picLocks noChangeAspect="1"/>
          </p:cNvPicPr>
          <p:nvPr userDrawn="1"/>
        </p:nvPicPr>
        <p:blipFill rotWithShape="1">
          <a:blip r:embed="rId4"/>
          <a:srcRect t="87144" r="2629" b="4962"/>
          <a:stretch>
            <a:fillRect/>
          </a:stretch>
        </p:blipFill>
        <p:spPr>
          <a:xfrm>
            <a:off x="6985" y="5960533"/>
            <a:ext cx="12178030" cy="551103"/>
          </a:xfrm>
          <a:prstGeom prst="rect">
            <a:avLst/>
          </a:prstGeom>
        </p:spPr>
      </p:pic>
      <p:sp>
        <p:nvSpPr>
          <p:cNvPr id="21" name="文本框 20"/>
          <p:cNvSpPr txBox="1"/>
          <p:nvPr userDrawn="1"/>
        </p:nvSpPr>
        <p:spPr>
          <a:xfrm>
            <a:off x="65199" y="6532806"/>
            <a:ext cx="16209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00" b="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威孚智感（无锡）科技有限公司</a:t>
            </a:r>
            <a:endParaRPr lang="zh-CN" altLang="en-US" sz="800" b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3622118" y="6625802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灯片编号占位符 4"/>
          <p:cNvSpPr>
            <a:spLocks noGrp="1"/>
          </p:cNvSpPr>
          <p:nvPr userDrawn="1"/>
        </p:nvSpPr>
        <p:spPr>
          <a:xfrm>
            <a:off x="11149593" y="6499225"/>
            <a:ext cx="615599" cy="369512"/>
          </a:xfr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E077DA78-E013-4A8C-AD75-63A150561B10}" type="slidenum">
              <a:rPr lang="zh-CN" altLang="en-US" sz="1100" smtClean="0"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 userDrawn="1"/>
        </p:nvCxnSpPr>
        <p:spPr>
          <a:xfrm>
            <a:off x="1731629" y="6585122"/>
            <a:ext cx="0" cy="1080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2399267" y="6585122"/>
            <a:ext cx="0" cy="108000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日期占位符 3"/>
          <p:cNvSpPr txBox="1"/>
          <p:nvPr userDrawn="1">
            <p:custDataLst>
              <p:tags r:id="rId2"/>
            </p:custDataLst>
          </p:nvPr>
        </p:nvSpPr>
        <p:spPr>
          <a:xfrm>
            <a:off x="1566650" y="6504196"/>
            <a:ext cx="2105839" cy="230324"/>
          </a:xfr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 sz="800" b="0" dirty="0">
              <a:solidFill>
                <a:schemeClr val="tx1">
                  <a:lumMod val="95000"/>
                  <a:lumOff val="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5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943283" y="59595"/>
            <a:ext cx="2190004" cy="720000"/>
          </a:xfrm>
          <a:prstGeom prst="rect">
            <a:avLst/>
          </a:prstGeom>
        </p:spPr>
      </p:pic>
      <p:sp>
        <p:nvSpPr>
          <p:cNvPr id="16" name="任意多边形: 形状 8"/>
          <p:cNvSpPr/>
          <p:nvPr userDrawn="1"/>
        </p:nvSpPr>
        <p:spPr>
          <a:xfrm flipH="1">
            <a:off x="0" y="245612"/>
            <a:ext cx="513071" cy="347965"/>
          </a:xfrm>
          <a:custGeom>
            <a:avLst/>
            <a:gdLst>
              <a:gd name="connsiteX0" fmla="*/ 800100 w 800100"/>
              <a:gd name="connsiteY0" fmla="*/ 0 h 477760"/>
              <a:gd name="connsiteX1" fmla="*/ 0 w 800100"/>
              <a:gd name="connsiteY1" fmla="*/ 0 h 477760"/>
              <a:gd name="connsiteX2" fmla="*/ 119316 w 800100"/>
              <a:gd name="connsiteY2" fmla="*/ 477760 h 477760"/>
              <a:gd name="connsiteX3" fmla="*/ 800100 w 800100"/>
              <a:gd name="connsiteY3" fmla="*/ 477760 h 477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0100" h="477760">
                <a:moveTo>
                  <a:pt x="800100" y="0"/>
                </a:moveTo>
                <a:lnTo>
                  <a:pt x="0" y="0"/>
                </a:lnTo>
                <a:lnTo>
                  <a:pt x="119316" y="477760"/>
                </a:lnTo>
                <a:lnTo>
                  <a:pt x="800100" y="477760"/>
                </a:lnTo>
                <a:close/>
              </a:path>
            </a:pathLst>
          </a:custGeom>
          <a:solidFill>
            <a:srgbClr val="00409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9515232" y="6549854"/>
            <a:ext cx="1433406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©</a:t>
            </a:r>
            <a:r>
              <a:rPr kumimoji="0" lang="en-US" altLang="zh-CN" sz="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 </a:t>
            </a:r>
            <a:r>
              <a:rPr kumimoji="0" lang="zh-CN" altLang="en-US" sz="6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n-cs"/>
              </a:rPr>
              <a:t>版权所有，未经书面授权不得转载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2372226" y="6537812"/>
            <a:ext cx="129715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威望于品智   孚信于用户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95000"/>
                  <a:lumOff val="5000"/>
                </a:prst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2" name="标题 1"/>
          <p:cNvSpPr>
            <a:spLocks noGrp="1"/>
          </p:cNvSpPr>
          <p:nvPr>
            <p:ph type="title"/>
          </p:nvPr>
        </p:nvSpPr>
        <p:spPr>
          <a:xfrm>
            <a:off x="700658" y="245612"/>
            <a:ext cx="4477734" cy="347965"/>
          </a:xfrm>
          <a:prstGeom prst="rect">
            <a:avLst/>
          </a:prstGeom>
        </p:spPr>
        <p:txBody>
          <a:bodyPr anchor="ctr"/>
          <a:lstStyle>
            <a:lvl1pPr>
              <a:defRPr sz="24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CusRS_DeviationList_SGMW_F520MRF520SR.xls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01_Requirement_Engineering/02-DIA/&#12304;C3&#12305;F520MR%20Diagnostic%20Questionnaire%20For%20CRS%20V1.1_20250618&#26356;&#26032;.xlsx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../&#23458;&#25143;&#38656;&#27714;/06_SGMW/01_Requirement_Engineering/02-DIA/SGMW&#32479;&#19968;&#35786;&#26029;&#27979;&#35797;&#35268;&#33539;V1.6.pdf" TargetMode="External"/><Relationship Id="rId5" Type="http://schemas.openxmlformats.org/officeDocument/2006/relationships/hyperlink" Target="../&#23458;&#25143;&#38656;&#27714;/06_SGMW/01_Requirement_Engineering/00-General/SGMW%20General%20Diagnostic%20Requirement%20Specification%20V2.5.pdf" TargetMode="External"/><Relationship Id="rId4" Type="http://schemas.openxmlformats.org/officeDocument/2006/relationships/hyperlink" Target="../&#23458;&#25143;&#38656;&#27714;/06_SGMW/01_Requirement_Engineering/CR60_Light_HWDegradation_v2.xlsx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01_Requirement_Engineering/01-CAN/BT-SGMWJ&#160;0858-2023&#39640;&#36895;&#25511;&#21046;&#22120;&#23616;&#22495;&#32593;&#65288;CAN&#65289;&#29289;&#29702;&#23618;&#35201;&#27714;-EN.docx(1)/BT-SGMWJ&#160;0858-2023&#39640;&#36895;&#25511;&#21046;&#22120;&#23616;&#22495;&#32593;&#65288;CAN&#65289;&#29289;&#29702;&#23618;&#35201;&#27714;-EN_1.1.docx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../&#23458;&#25143;&#38656;&#27714;/06_SGMW/01_Requirement_Engineering/01-CAN/&#12304;C2&#12305;SGMWLAN_CAN&#32593;&#32476;&#36890;&#20449;&#31574;&#30053;V2.2_20250326.pdf" TargetMode="External"/><Relationship Id="rId4" Type="http://schemas.openxmlformats.org/officeDocument/2006/relationships/hyperlink" Target="../&#23458;&#25143;&#38656;&#27714;/06_SGMW/01_Requirement_Engineering/01-CAN/F520MR_CANMatrix_CRS-R_VF.01.02_20250623.xlsx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01_Requirement_Engineering/03-FBL/ECU%20Programming%20Requirement%20and%20Process%20V2.1.pdf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../&#23458;&#25143;&#38656;&#27714;/06_SGMW/01_Requirement_Engineering/02-DIA/&#12304;C3&#12305;F520MR%20Diagnostic%20Questionnaire%20For%20CRS%20V1.1_20250618&#26356;&#26032;.xlsx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01_Requirement_Engineering/01-CAN/SGMWLAN_CAN&#32593;&#32476;&#36890;&#20449;&#31574;&#30053;V2.0_20240711.pdf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../&#26102;&#38388;&#21516;&#27493;/&#35282;&#38647;&#36798;&#21516;&#27493;&#36719;&#20214;&#38656;&#27714;20250604.doc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01_Requirement_Engineering/04-Function/&#12304;C3&#12305;F520MR&amp;F520SR&#21360;&#23612;%20&#26234;&#33021;&#39550;&#39542;&#36741;&#21161;&#31995;&#32479;&#21151;&#33021;&#35268;&#33539;&#65288;&#21518;&#23433;&#20840;&#39044;&#35686;&#65289;V1.0.pdf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hyperlink" Target="../&#23458;&#25143;&#38656;&#27714;/06_SGMW/01_Requirement_Engineering/01-CAN/F520MR_CANMatrix_CRS-R_VF.01.02_20250623.xlsx" TargetMode="Externa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../&#23458;&#25143;&#38656;&#27714;/06_SGMW/01_Requirement_Engineering/04-Function/SGMW_F511S_CR5CB_Blindness%20Strategy_V1.0.pdf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../&#26631;&#23450;/EOL&#21160;&#24577;&#26657;&#20934;&#21151;&#33021;&#24320;&#21457;&#38656;&#27714;.docx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hyperlink" Target="../&#26631;&#23450;/SA&#21151;&#33021;&#24320;&#21457;&#38656;&#27714;.docx" TargetMode="External"/><Relationship Id="rId5" Type="http://schemas.openxmlformats.org/officeDocument/2006/relationships/hyperlink" Target="../&#26631;&#23450;/OA&#21151;&#33021;&#24320;&#21457;&#38656;&#27714;.docx" TargetMode="External"/><Relationship Id="rId4" Type="http://schemas.openxmlformats.org/officeDocument/2006/relationships/hyperlink" Target="../&#26631;&#23450;/EOL&#19979;&#32447;&#38745;&#24577;&#26657;&#20934;&#27969;&#31243;&#35268;&#33539;.docx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圆角 36"/>
          <p:cNvSpPr/>
          <p:nvPr/>
        </p:nvSpPr>
        <p:spPr>
          <a:xfrm>
            <a:off x="4964790" y="5927344"/>
            <a:ext cx="2264981" cy="310089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演讲人：</a:t>
            </a:r>
            <a:r>
              <a:rPr lang="en-US" altLang="zh-CN" sz="11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 sz="11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: 圆角 37"/>
          <p:cNvSpPr/>
          <p:nvPr/>
        </p:nvSpPr>
        <p:spPr>
          <a:xfrm>
            <a:off x="4964790" y="6222192"/>
            <a:ext cx="2264981" cy="310089"/>
          </a:xfrm>
          <a:prstGeom prst="roundRect">
            <a:avLst>
              <a:gd name="adj" fmla="val 50000"/>
            </a:avLst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 sz="110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2020.12.22</a:t>
            </a:r>
            <a:endParaRPr lang="zh-CN" altLang="en-US" sz="110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-7977" y="0"/>
            <a:ext cx="12199977" cy="6858000"/>
            <a:chOff x="-7977" y="0"/>
            <a:chExt cx="12199977" cy="6858000"/>
          </a:xfrm>
        </p:grpSpPr>
        <p:pic>
          <p:nvPicPr>
            <p:cNvPr id="35" name="图片 34" descr="图片包含 游戏机, 自然, 夜空&#10;&#10;描述已自动生成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" t="19155" r="-1" b="5458"/>
            <a:stretch>
              <a:fillRect/>
            </a:stretch>
          </p:blipFill>
          <p:spPr>
            <a:xfrm>
              <a:off x="-4764" y="0"/>
              <a:ext cx="12192002" cy="4487964"/>
            </a:xfrm>
            <a:prstGeom prst="rect">
              <a:avLst/>
            </a:prstGeom>
          </p:spPr>
        </p:pic>
        <p:sp>
          <p:nvSpPr>
            <p:cNvPr id="4" name="矩形 2"/>
            <p:cNvSpPr/>
            <p:nvPr/>
          </p:nvSpPr>
          <p:spPr>
            <a:xfrm>
              <a:off x="-7977" y="4140806"/>
              <a:ext cx="12199977" cy="2717194"/>
            </a:xfrm>
            <a:prstGeom prst="rect">
              <a:avLst/>
            </a:prstGeom>
            <a:gradFill flip="none" rotWithShape="1">
              <a:gsLst>
                <a:gs pos="0">
                  <a:srgbClr val="4F81BD">
                    <a:shade val="30000"/>
                    <a:satMod val="115000"/>
                  </a:srgbClr>
                </a:gs>
                <a:gs pos="50000">
                  <a:srgbClr val="4F81BD">
                    <a:shade val="67500"/>
                    <a:satMod val="115000"/>
                  </a:srgbClr>
                </a:gs>
                <a:gs pos="100000">
                  <a:srgbClr val="4F81BD">
                    <a:shade val="100000"/>
                    <a:satMod val="115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8" tIns="45714" rIns="91428" bIns="45714" rtlCol="0" anchor="ctr"/>
            <a:lstStyle/>
            <a:p>
              <a:endParaRPr lang="zh-CN" altLang="en-US" sz="1865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8" name="组合 67"/>
          <p:cNvGrpSpPr/>
          <p:nvPr/>
        </p:nvGrpSpPr>
        <p:grpSpPr>
          <a:xfrm>
            <a:off x="515933" y="2950721"/>
            <a:ext cx="11160130" cy="1628474"/>
            <a:chOff x="7536297" y="-787466"/>
            <a:chExt cx="4586287" cy="669228"/>
          </a:xfrm>
          <a:gradFill>
            <a:gsLst>
              <a:gs pos="0">
                <a:schemeClr val="bg1">
                  <a:alpha val="12000"/>
                </a:schemeClr>
              </a:gs>
              <a:gs pos="100000">
                <a:schemeClr val="bg1">
                  <a:alpha val="43000"/>
                </a:schemeClr>
              </a:gs>
            </a:gsLst>
            <a:lin ang="5400000" scaled="1"/>
          </a:gradFill>
          <a:scene3d>
            <a:camera prst="perspectiveRelaxedModerately">
              <a:rot lat="17400000" lon="0" rev="0"/>
            </a:camera>
            <a:lightRig rig="threePt" dir="t"/>
          </a:scene3d>
        </p:grpSpPr>
        <p:grpSp>
          <p:nvGrpSpPr>
            <p:cNvPr id="69" name="组合 68"/>
            <p:cNvGrpSpPr/>
            <p:nvPr/>
          </p:nvGrpSpPr>
          <p:grpSpPr>
            <a:xfrm>
              <a:off x="7536297" y="-787466"/>
              <a:ext cx="4586287" cy="669227"/>
              <a:chOff x="7536297" y="-787466"/>
              <a:chExt cx="4586287" cy="669227"/>
            </a:xfrm>
            <a:grpFill/>
          </p:grpSpPr>
          <p:sp>
            <p:nvSpPr>
              <p:cNvPr id="75" name="任意多边形: 形状 74"/>
              <p:cNvSpPr/>
              <p:nvPr/>
            </p:nvSpPr>
            <p:spPr>
              <a:xfrm>
                <a:off x="7536297" y="-787465"/>
                <a:ext cx="876871" cy="669226"/>
              </a:xfrm>
              <a:custGeom>
                <a:avLst/>
                <a:gdLst>
                  <a:gd name="connsiteX0" fmla="*/ 407289 w 876871"/>
                  <a:gd name="connsiteY0" fmla="*/ 198692 h 669226"/>
                  <a:gd name="connsiteX1" fmla="*/ 338138 w 876871"/>
                  <a:gd name="connsiteY1" fmla="*/ 396335 h 669226"/>
                  <a:gd name="connsiteX2" fmla="*/ 228791 w 876871"/>
                  <a:gd name="connsiteY2" fmla="*/ 669227 h 669226"/>
                  <a:gd name="connsiteX3" fmla="*/ 47149 w 876871"/>
                  <a:gd name="connsiteY3" fmla="*/ 669227 h 669226"/>
                  <a:gd name="connsiteX4" fmla="*/ 0 w 876871"/>
                  <a:gd name="connsiteY4" fmla="*/ 0 h 669226"/>
                  <a:gd name="connsiteX5" fmla="*/ 157448 w 876871"/>
                  <a:gd name="connsiteY5" fmla="*/ 0 h 669226"/>
                  <a:gd name="connsiteX6" fmla="*/ 175546 w 876871"/>
                  <a:gd name="connsiteY6" fmla="*/ 332137 h 669226"/>
                  <a:gd name="connsiteX7" fmla="*/ 177546 w 876871"/>
                  <a:gd name="connsiteY7" fmla="*/ 508635 h 669226"/>
                  <a:gd name="connsiteX8" fmla="*/ 240792 w 876871"/>
                  <a:gd name="connsiteY8" fmla="*/ 323088 h 669226"/>
                  <a:gd name="connsiteX9" fmla="*/ 366236 w 876871"/>
                  <a:gd name="connsiteY9" fmla="*/ 0 h 669226"/>
                  <a:gd name="connsiteX10" fmla="*/ 506635 w 876871"/>
                  <a:gd name="connsiteY10" fmla="*/ 0 h 669226"/>
                  <a:gd name="connsiteX11" fmla="*/ 533781 w 876871"/>
                  <a:gd name="connsiteY11" fmla="*/ 322040 h 669226"/>
                  <a:gd name="connsiteX12" fmla="*/ 537686 w 876871"/>
                  <a:gd name="connsiteY12" fmla="*/ 508635 h 669226"/>
                  <a:gd name="connsiteX13" fmla="*/ 596932 w 876871"/>
                  <a:gd name="connsiteY13" fmla="*/ 334137 h 669226"/>
                  <a:gd name="connsiteX14" fmla="*/ 716375 w 876871"/>
                  <a:gd name="connsiteY14" fmla="*/ 0 h 669226"/>
                  <a:gd name="connsiteX15" fmla="*/ 876872 w 876871"/>
                  <a:gd name="connsiteY15" fmla="*/ 0 h 669226"/>
                  <a:gd name="connsiteX16" fmla="*/ 619030 w 876871"/>
                  <a:gd name="connsiteY16" fmla="*/ 669227 h 669226"/>
                  <a:gd name="connsiteX17" fmla="*/ 437388 w 876871"/>
                  <a:gd name="connsiteY17" fmla="*/ 669227 h 669226"/>
                  <a:gd name="connsiteX18" fmla="*/ 415385 w 876871"/>
                  <a:gd name="connsiteY18" fmla="*/ 398336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76871" h="669226">
                    <a:moveTo>
                      <a:pt x="407289" y="198692"/>
                    </a:moveTo>
                    <a:lnTo>
                      <a:pt x="338138" y="396335"/>
                    </a:lnTo>
                    <a:lnTo>
                      <a:pt x="228791" y="669227"/>
                    </a:lnTo>
                    <a:lnTo>
                      <a:pt x="47149" y="669227"/>
                    </a:lnTo>
                    <a:lnTo>
                      <a:pt x="0" y="0"/>
                    </a:lnTo>
                    <a:lnTo>
                      <a:pt x="157448" y="0"/>
                    </a:lnTo>
                    <a:lnTo>
                      <a:pt x="175546" y="332137"/>
                    </a:lnTo>
                    <a:lnTo>
                      <a:pt x="177546" y="508635"/>
                    </a:lnTo>
                    <a:lnTo>
                      <a:pt x="240792" y="323088"/>
                    </a:lnTo>
                    <a:lnTo>
                      <a:pt x="366236" y="0"/>
                    </a:lnTo>
                    <a:lnTo>
                      <a:pt x="506635" y="0"/>
                    </a:lnTo>
                    <a:lnTo>
                      <a:pt x="533781" y="322040"/>
                    </a:lnTo>
                    <a:lnTo>
                      <a:pt x="537686" y="508635"/>
                    </a:lnTo>
                    <a:lnTo>
                      <a:pt x="596932" y="334137"/>
                    </a:lnTo>
                    <a:lnTo>
                      <a:pt x="716375" y="0"/>
                    </a:lnTo>
                    <a:lnTo>
                      <a:pt x="876872" y="0"/>
                    </a:lnTo>
                    <a:lnTo>
                      <a:pt x="619030" y="669227"/>
                    </a:lnTo>
                    <a:lnTo>
                      <a:pt x="437388" y="669227"/>
                    </a:lnTo>
                    <a:lnTo>
                      <a:pt x="415385" y="39833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6" name="任意多边形: 形状 75"/>
              <p:cNvSpPr/>
              <p:nvPr/>
            </p:nvSpPr>
            <p:spPr>
              <a:xfrm>
                <a:off x="9342903" y="-787465"/>
                <a:ext cx="510635" cy="669226"/>
              </a:xfrm>
              <a:custGeom>
                <a:avLst/>
                <a:gdLst>
                  <a:gd name="connsiteX0" fmla="*/ 105346 w 510635"/>
                  <a:gd name="connsiteY0" fmla="*/ 0 h 669226"/>
                  <a:gd name="connsiteX1" fmla="*/ 510635 w 510635"/>
                  <a:gd name="connsiteY1" fmla="*/ 0 h 669226"/>
                  <a:gd name="connsiteX2" fmla="*/ 491585 w 510635"/>
                  <a:gd name="connsiteY2" fmla="*/ 120396 h 669226"/>
                  <a:gd name="connsiteX3" fmla="*/ 251841 w 510635"/>
                  <a:gd name="connsiteY3" fmla="*/ 120396 h 669226"/>
                  <a:gd name="connsiteX4" fmla="*/ 224790 w 510635"/>
                  <a:gd name="connsiteY4" fmla="*/ 291941 h 669226"/>
                  <a:gd name="connsiteX5" fmla="*/ 454438 w 510635"/>
                  <a:gd name="connsiteY5" fmla="*/ 291941 h 669226"/>
                  <a:gd name="connsiteX6" fmla="*/ 435388 w 510635"/>
                  <a:gd name="connsiteY6" fmla="*/ 412337 h 669226"/>
                  <a:gd name="connsiteX7" fmla="*/ 205645 w 510635"/>
                  <a:gd name="connsiteY7" fmla="*/ 412337 h 669226"/>
                  <a:gd name="connsiteX8" fmla="*/ 165545 w 510635"/>
                  <a:gd name="connsiteY8" fmla="*/ 669227 h 669226"/>
                  <a:gd name="connsiteX9" fmla="*/ 0 w 510635"/>
                  <a:gd name="connsiteY9" fmla="*/ 669227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0635" h="669226">
                    <a:moveTo>
                      <a:pt x="105346" y="0"/>
                    </a:moveTo>
                    <a:lnTo>
                      <a:pt x="510635" y="0"/>
                    </a:lnTo>
                    <a:lnTo>
                      <a:pt x="491585" y="120396"/>
                    </a:lnTo>
                    <a:lnTo>
                      <a:pt x="251841" y="120396"/>
                    </a:lnTo>
                    <a:lnTo>
                      <a:pt x="224790" y="291941"/>
                    </a:lnTo>
                    <a:lnTo>
                      <a:pt x="454438" y="291941"/>
                    </a:lnTo>
                    <a:lnTo>
                      <a:pt x="435388" y="412337"/>
                    </a:lnTo>
                    <a:lnTo>
                      <a:pt x="205645" y="412337"/>
                    </a:lnTo>
                    <a:lnTo>
                      <a:pt x="165545" y="669227"/>
                    </a:lnTo>
                    <a:lnTo>
                      <a:pt x="0" y="66922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7" name="任意多边形: 形状 76"/>
              <p:cNvSpPr/>
              <p:nvPr/>
            </p:nvSpPr>
            <p:spPr>
              <a:xfrm>
                <a:off x="10411989" y="-787466"/>
                <a:ext cx="1710595" cy="669226"/>
              </a:xfrm>
              <a:custGeom>
                <a:avLst/>
                <a:gdLst>
                  <a:gd name="connsiteX0" fmla="*/ 1392746 w 1710595"/>
                  <a:gd name="connsiteY0" fmla="*/ 373475 h 669226"/>
                  <a:gd name="connsiteX1" fmla="*/ 1585055 w 1710595"/>
                  <a:gd name="connsiteY1" fmla="*/ 373475 h 669226"/>
                  <a:gd name="connsiteX2" fmla="*/ 1502664 w 1710595"/>
                  <a:gd name="connsiteY2" fmla="*/ 418814 h 669226"/>
                  <a:gd name="connsiteX3" fmla="*/ 1686401 w 1710595"/>
                  <a:gd name="connsiteY3" fmla="*/ 418814 h 669226"/>
                  <a:gd name="connsiteX4" fmla="*/ 1636490 w 1710595"/>
                  <a:gd name="connsiteY4" fmla="*/ 521398 h 669226"/>
                  <a:gd name="connsiteX5" fmla="*/ 1357027 w 1710595"/>
                  <a:gd name="connsiteY5" fmla="*/ 521398 h 669226"/>
                  <a:gd name="connsiteX6" fmla="*/ 1345311 w 1710595"/>
                  <a:gd name="connsiteY6" fmla="*/ 618839 h 669226"/>
                  <a:gd name="connsiteX7" fmla="*/ 1326071 w 1710595"/>
                  <a:gd name="connsiteY7" fmla="*/ 654748 h 669226"/>
                  <a:gd name="connsiteX8" fmla="*/ 1288923 w 1710595"/>
                  <a:gd name="connsiteY8" fmla="*/ 669226 h 669226"/>
                  <a:gd name="connsiteX9" fmla="*/ 1045369 w 1710595"/>
                  <a:gd name="connsiteY9" fmla="*/ 669226 h 669226"/>
                  <a:gd name="connsiteX10" fmla="*/ 1101662 w 1710595"/>
                  <a:gd name="connsiteY10" fmla="*/ 570071 h 669226"/>
                  <a:gd name="connsiteX11" fmla="*/ 1212818 w 1710595"/>
                  <a:gd name="connsiteY11" fmla="*/ 570071 h 669226"/>
                  <a:gd name="connsiteX12" fmla="*/ 1222248 w 1710595"/>
                  <a:gd name="connsiteY12" fmla="*/ 566642 h 669226"/>
                  <a:gd name="connsiteX13" fmla="*/ 1227106 w 1710595"/>
                  <a:gd name="connsiteY13" fmla="*/ 558070 h 669226"/>
                  <a:gd name="connsiteX14" fmla="*/ 1231487 w 1710595"/>
                  <a:gd name="connsiteY14" fmla="*/ 521303 h 669226"/>
                  <a:gd name="connsiteX15" fmla="*/ 844296 w 1710595"/>
                  <a:gd name="connsiteY15" fmla="*/ 521303 h 669226"/>
                  <a:gd name="connsiteX16" fmla="*/ 887349 w 1710595"/>
                  <a:gd name="connsiteY16" fmla="*/ 418719 h 669226"/>
                  <a:gd name="connsiteX17" fmla="*/ 1301877 w 1710595"/>
                  <a:gd name="connsiteY17" fmla="*/ 418719 h 669226"/>
                  <a:gd name="connsiteX18" fmla="*/ 241650 w 1710595"/>
                  <a:gd name="connsiteY18" fmla="*/ 300894 h 669226"/>
                  <a:gd name="connsiteX19" fmla="*/ 357855 w 1710595"/>
                  <a:gd name="connsiteY19" fmla="*/ 300894 h 669226"/>
                  <a:gd name="connsiteX20" fmla="*/ 355093 w 1710595"/>
                  <a:gd name="connsiteY20" fmla="*/ 323944 h 669226"/>
                  <a:gd name="connsiteX21" fmla="*/ 613220 w 1710595"/>
                  <a:gd name="connsiteY21" fmla="*/ 323944 h 669226"/>
                  <a:gd name="connsiteX22" fmla="*/ 577597 w 1710595"/>
                  <a:gd name="connsiteY22" fmla="*/ 421385 h 669226"/>
                  <a:gd name="connsiteX23" fmla="*/ 343472 w 1710595"/>
                  <a:gd name="connsiteY23" fmla="*/ 421385 h 669226"/>
                  <a:gd name="connsiteX24" fmla="*/ 341091 w 1710595"/>
                  <a:gd name="connsiteY24" fmla="*/ 441007 h 669226"/>
                  <a:gd name="connsiteX25" fmla="*/ 379477 w 1710595"/>
                  <a:gd name="connsiteY25" fmla="*/ 477773 h 669226"/>
                  <a:gd name="connsiteX26" fmla="*/ 424720 w 1710595"/>
                  <a:gd name="connsiteY26" fmla="*/ 441864 h 669226"/>
                  <a:gd name="connsiteX27" fmla="*/ 574358 w 1710595"/>
                  <a:gd name="connsiteY27" fmla="*/ 441864 h 669226"/>
                  <a:gd name="connsiteX28" fmla="*/ 451486 w 1710595"/>
                  <a:gd name="connsiteY28" fmla="*/ 546925 h 669226"/>
                  <a:gd name="connsiteX29" fmla="*/ 578168 w 1710595"/>
                  <a:gd name="connsiteY29" fmla="*/ 666654 h 669226"/>
                  <a:gd name="connsiteX30" fmla="*/ 418339 w 1710595"/>
                  <a:gd name="connsiteY30" fmla="*/ 666654 h 669226"/>
                  <a:gd name="connsiteX31" fmla="*/ 364808 w 1710595"/>
                  <a:gd name="connsiteY31" fmla="*/ 621315 h 669226"/>
                  <a:gd name="connsiteX32" fmla="*/ 312421 w 1710595"/>
                  <a:gd name="connsiteY32" fmla="*/ 666654 h 669226"/>
                  <a:gd name="connsiteX33" fmla="*/ 148305 w 1710595"/>
                  <a:gd name="connsiteY33" fmla="*/ 666654 h 669226"/>
                  <a:gd name="connsiteX34" fmla="*/ 185643 w 1710595"/>
                  <a:gd name="connsiteY34" fmla="*/ 576071 h 669226"/>
                  <a:gd name="connsiteX35" fmla="*/ 254890 w 1710595"/>
                  <a:gd name="connsiteY35" fmla="*/ 576071 h 669226"/>
                  <a:gd name="connsiteX36" fmla="*/ 284131 w 1710595"/>
                  <a:gd name="connsiteY36" fmla="*/ 552925 h 669226"/>
                  <a:gd name="connsiteX37" fmla="*/ 218314 w 1710595"/>
                  <a:gd name="connsiteY37" fmla="*/ 495680 h 669226"/>
                  <a:gd name="connsiteX38" fmla="*/ 227267 w 1710595"/>
                  <a:gd name="connsiteY38" fmla="*/ 421385 h 669226"/>
                  <a:gd name="connsiteX39" fmla="*/ 171641 w 1710595"/>
                  <a:gd name="connsiteY39" fmla="*/ 421385 h 669226"/>
                  <a:gd name="connsiteX40" fmla="*/ 206407 w 1710595"/>
                  <a:gd name="connsiteY40" fmla="*/ 323944 h 669226"/>
                  <a:gd name="connsiteX41" fmla="*/ 238888 w 1710595"/>
                  <a:gd name="connsiteY41" fmla="*/ 323944 h 669226"/>
                  <a:gd name="connsiteX42" fmla="*/ 968121 w 1710595"/>
                  <a:gd name="connsiteY42" fmla="*/ 250412 h 669226"/>
                  <a:gd name="connsiteX43" fmla="*/ 1654397 w 1710595"/>
                  <a:gd name="connsiteY43" fmla="*/ 250412 h 669226"/>
                  <a:gd name="connsiteX44" fmla="*/ 1608106 w 1710595"/>
                  <a:gd name="connsiteY44" fmla="*/ 358997 h 669226"/>
                  <a:gd name="connsiteX45" fmla="*/ 921734 w 1710595"/>
                  <a:gd name="connsiteY45" fmla="*/ 358997 h 669226"/>
                  <a:gd name="connsiteX46" fmla="*/ 240602 w 1710595"/>
                  <a:gd name="connsiteY46" fmla="*/ 188023 h 669226"/>
                  <a:gd name="connsiteX47" fmla="*/ 608076 w 1710595"/>
                  <a:gd name="connsiteY47" fmla="*/ 188023 h 669226"/>
                  <a:gd name="connsiteX48" fmla="*/ 573120 w 1710595"/>
                  <a:gd name="connsiteY48" fmla="*/ 280320 h 669226"/>
                  <a:gd name="connsiteX49" fmla="*/ 204788 w 1710595"/>
                  <a:gd name="connsiteY49" fmla="*/ 280320 h 669226"/>
                  <a:gd name="connsiteX50" fmla="*/ 1518952 w 1710595"/>
                  <a:gd name="connsiteY50" fmla="*/ 139350 h 669226"/>
                  <a:gd name="connsiteX51" fmla="*/ 1646301 w 1710595"/>
                  <a:gd name="connsiteY51" fmla="*/ 139350 h 669226"/>
                  <a:gd name="connsiteX52" fmla="*/ 1608487 w 1710595"/>
                  <a:gd name="connsiteY52" fmla="*/ 234219 h 669226"/>
                  <a:gd name="connsiteX53" fmla="*/ 1481995 w 1710595"/>
                  <a:gd name="connsiteY53" fmla="*/ 234219 h 669226"/>
                  <a:gd name="connsiteX54" fmla="*/ 1225773 w 1710595"/>
                  <a:gd name="connsiteY54" fmla="*/ 139350 h 669226"/>
                  <a:gd name="connsiteX55" fmla="*/ 1349788 w 1710595"/>
                  <a:gd name="connsiteY55" fmla="*/ 139350 h 669226"/>
                  <a:gd name="connsiteX56" fmla="*/ 1362266 w 1710595"/>
                  <a:gd name="connsiteY56" fmla="*/ 234219 h 669226"/>
                  <a:gd name="connsiteX57" fmla="*/ 1235012 w 1710595"/>
                  <a:gd name="connsiteY57" fmla="*/ 234219 h 669226"/>
                  <a:gd name="connsiteX58" fmla="*/ 963454 w 1710595"/>
                  <a:gd name="connsiteY58" fmla="*/ 139350 h 669226"/>
                  <a:gd name="connsiteX59" fmla="*/ 1087374 w 1710595"/>
                  <a:gd name="connsiteY59" fmla="*/ 139350 h 669226"/>
                  <a:gd name="connsiteX60" fmla="*/ 1104233 w 1710595"/>
                  <a:gd name="connsiteY60" fmla="*/ 234219 h 669226"/>
                  <a:gd name="connsiteX61" fmla="*/ 976884 w 1710595"/>
                  <a:gd name="connsiteY61" fmla="*/ 234219 h 669226"/>
                  <a:gd name="connsiteX62" fmla="*/ 1566006 w 1710595"/>
                  <a:gd name="connsiteY62" fmla="*/ 1714 h 669226"/>
                  <a:gd name="connsiteX63" fmla="*/ 1710595 w 1710595"/>
                  <a:gd name="connsiteY63" fmla="*/ 1714 h 669226"/>
                  <a:gd name="connsiteX64" fmla="*/ 1676877 w 1710595"/>
                  <a:gd name="connsiteY64" fmla="*/ 76104 h 669226"/>
                  <a:gd name="connsiteX65" fmla="*/ 1645158 w 1710595"/>
                  <a:gd name="connsiteY65" fmla="*/ 112395 h 669226"/>
                  <a:gd name="connsiteX66" fmla="*/ 1596485 w 1710595"/>
                  <a:gd name="connsiteY66" fmla="*/ 126492 h 669226"/>
                  <a:gd name="connsiteX67" fmla="*/ 916972 w 1710595"/>
                  <a:gd name="connsiteY67" fmla="*/ 126492 h 669226"/>
                  <a:gd name="connsiteX68" fmla="*/ 963835 w 1710595"/>
                  <a:gd name="connsiteY68" fmla="*/ 20478 h 669226"/>
                  <a:gd name="connsiteX69" fmla="*/ 1555242 w 1710595"/>
                  <a:gd name="connsiteY69" fmla="*/ 20478 h 669226"/>
                  <a:gd name="connsiteX70" fmla="*/ 626364 w 1710595"/>
                  <a:gd name="connsiteY70" fmla="*/ 0 h 669226"/>
                  <a:gd name="connsiteX71" fmla="*/ 745998 w 1710595"/>
                  <a:gd name="connsiteY71" fmla="*/ 0 h 669226"/>
                  <a:gd name="connsiteX72" fmla="*/ 746188 w 1710595"/>
                  <a:gd name="connsiteY72" fmla="*/ 55531 h 669226"/>
                  <a:gd name="connsiteX73" fmla="*/ 778669 w 1710595"/>
                  <a:gd name="connsiteY73" fmla="*/ 55531 h 669226"/>
                  <a:gd name="connsiteX74" fmla="*/ 776573 w 1710595"/>
                  <a:gd name="connsiteY74" fmla="*/ 1715 h 669226"/>
                  <a:gd name="connsiteX75" fmla="*/ 875633 w 1710595"/>
                  <a:gd name="connsiteY75" fmla="*/ 1715 h 669226"/>
                  <a:gd name="connsiteX76" fmla="*/ 877729 w 1710595"/>
                  <a:gd name="connsiteY76" fmla="*/ 55531 h 669226"/>
                  <a:gd name="connsiteX77" fmla="*/ 900779 w 1710595"/>
                  <a:gd name="connsiteY77" fmla="*/ 55531 h 669226"/>
                  <a:gd name="connsiteX78" fmla="*/ 866394 w 1710595"/>
                  <a:gd name="connsiteY78" fmla="*/ 164116 h 669226"/>
                  <a:gd name="connsiteX79" fmla="*/ 746760 w 1710595"/>
                  <a:gd name="connsiteY79" fmla="*/ 164116 h 669226"/>
                  <a:gd name="connsiteX80" fmla="*/ 746855 w 1710595"/>
                  <a:gd name="connsiteY80" fmla="*/ 292322 h 669226"/>
                  <a:gd name="connsiteX81" fmla="*/ 875919 w 1710595"/>
                  <a:gd name="connsiteY81" fmla="*/ 292322 h 669226"/>
                  <a:gd name="connsiteX82" fmla="*/ 747713 w 1710595"/>
                  <a:gd name="connsiteY82" fmla="*/ 442722 h 669226"/>
                  <a:gd name="connsiteX83" fmla="*/ 748379 w 1710595"/>
                  <a:gd name="connsiteY83" fmla="*/ 558165 h 669226"/>
                  <a:gd name="connsiteX84" fmla="*/ 755999 w 1710595"/>
                  <a:gd name="connsiteY84" fmla="*/ 565880 h 669226"/>
                  <a:gd name="connsiteX85" fmla="*/ 841438 w 1710595"/>
                  <a:gd name="connsiteY85" fmla="*/ 565880 h 669226"/>
                  <a:gd name="connsiteX86" fmla="*/ 800100 w 1710595"/>
                  <a:gd name="connsiteY86" fmla="*/ 668465 h 669226"/>
                  <a:gd name="connsiteX87" fmla="*/ 690658 w 1710595"/>
                  <a:gd name="connsiteY87" fmla="*/ 668465 h 669226"/>
                  <a:gd name="connsiteX88" fmla="*/ 642461 w 1710595"/>
                  <a:gd name="connsiteY88" fmla="*/ 646652 h 669226"/>
                  <a:gd name="connsiteX89" fmla="*/ 625221 w 1710595"/>
                  <a:gd name="connsiteY89" fmla="*/ 594074 h 669226"/>
                  <a:gd name="connsiteX90" fmla="*/ 624649 w 1710595"/>
                  <a:gd name="connsiteY90" fmla="*/ 555593 h 669226"/>
                  <a:gd name="connsiteX91" fmla="*/ 516064 w 1710595"/>
                  <a:gd name="connsiteY91" fmla="*/ 555593 h 669226"/>
                  <a:gd name="connsiteX92" fmla="*/ 625412 w 1710595"/>
                  <a:gd name="connsiteY92" fmla="*/ 427387 h 669226"/>
                  <a:gd name="connsiteX93" fmla="*/ 625316 w 1710595"/>
                  <a:gd name="connsiteY93" fmla="*/ 164211 h 669226"/>
                  <a:gd name="connsiteX94" fmla="*/ 215074 w 1710595"/>
                  <a:gd name="connsiteY94" fmla="*/ 164211 h 669226"/>
                  <a:gd name="connsiteX95" fmla="*/ 206121 w 1710595"/>
                  <a:gd name="connsiteY95" fmla="*/ 167640 h 669226"/>
                  <a:gd name="connsiteX96" fmla="*/ 200882 w 1710595"/>
                  <a:gd name="connsiteY96" fmla="*/ 175355 h 669226"/>
                  <a:gd name="connsiteX97" fmla="*/ 123920 w 1710595"/>
                  <a:gd name="connsiteY97" fmla="*/ 668465 h 669226"/>
                  <a:gd name="connsiteX98" fmla="*/ 0 w 1710595"/>
                  <a:gd name="connsiteY98" fmla="*/ 668465 h 669226"/>
                  <a:gd name="connsiteX99" fmla="*/ 87154 w 1710595"/>
                  <a:gd name="connsiteY99" fmla="*/ 104394 h 669226"/>
                  <a:gd name="connsiteX100" fmla="*/ 107823 w 1710595"/>
                  <a:gd name="connsiteY100" fmla="*/ 71057 h 669226"/>
                  <a:gd name="connsiteX101" fmla="*/ 147733 w 1710595"/>
                  <a:gd name="connsiteY101" fmla="*/ 55721 h 669226"/>
                  <a:gd name="connsiteX102" fmla="*/ 625507 w 1710595"/>
                  <a:gd name="connsiteY102" fmla="*/ 55721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1710595" h="669226">
                    <a:moveTo>
                      <a:pt x="1392746" y="373475"/>
                    </a:moveTo>
                    <a:lnTo>
                      <a:pt x="1585055" y="373475"/>
                    </a:lnTo>
                    <a:lnTo>
                      <a:pt x="1502664" y="418814"/>
                    </a:lnTo>
                    <a:lnTo>
                      <a:pt x="1686401" y="418814"/>
                    </a:lnTo>
                    <a:lnTo>
                      <a:pt x="1636490" y="521398"/>
                    </a:lnTo>
                    <a:lnTo>
                      <a:pt x="1357027" y="521398"/>
                    </a:lnTo>
                    <a:lnTo>
                      <a:pt x="1345311" y="618839"/>
                    </a:lnTo>
                    <a:cubicBezTo>
                      <a:pt x="1343597" y="633031"/>
                      <a:pt x="1337215" y="645033"/>
                      <a:pt x="1326071" y="654748"/>
                    </a:cubicBezTo>
                    <a:cubicBezTo>
                      <a:pt x="1314926" y="664464"/>
                      <a:pt x="1302544" y="669226"/>
                      <a:pt x="1288923" y="669226"/>
                    </a:cubicBezTo>
                    <a:lnTo>
                      <a:pt x="1045369" y="669226"/>
                    </a:lnTo>
                    <a:lnTo>
                      <a:pt x="1101662" y="570071"/>
                    </a:lnTo>
                    <a:lnTo>
                      <a:pt x="1212818" y="570071"/>
                    </a:lnTo>
                    <a:cubicBezTo>
                      <a:pt x="1216247" y="570071"/>
                      <a:pt x="1219391" y="568928"/>
                      <a:pt x="1222248" y="566642"/>
                    </a:cubicBezTo>
                    <a:cubicBezTo>
                      <a:pt x="1225106" y="564356"/>
                      <a:pt x="1226725" y="561499"/>
                      <a:pt x="1227106" y="558070"/>
                    </a:cubicBezTo>
                    <a:lnTo>
                      <a:pt x="1231487" y="521303"/>
                    </a:lnTo>
                    <a:lnTo>
                      <a:pt x="844296" y="521303"/>
                    </a:lnTo>
                    <a:lnTo>
                      <a:pt x="887349" y="418719"/>
                    </a:lnTo>
                    <a:lnTo>
                      <a:pt x="1301877" y="418719"/>
                    </a:lnTo>
                    <a:close/>
                    <a:moveTo>
                      <a:pt x="241650" y="300894"/>
                    </a:moveTo>
                    <a:lnTo>
                      <a:pt x="357855" y="300894"/>
                    </a:lnTo>
                    <a:lnTo>
                      <a:pt x="355093" y="323944"/>
                    </a:lnTo>
                    <a:lnTo>
                      <a:pt x="613220" y="323944"/>
                    </a:lnTo>
                    <a:lnTo>
                      <a:pt x="577597" y="421385"/>
                    </a:lnTo>
                    <a:lnTo>
                      <a:pt x="343472" y="421385"/>
                    </a:lnTo>
                    <a:lnTo>
                      <a:pt x="341091" y="441007"/>
                    </a:lnTo>
                    <a:lnTo>
                      <a:pt x="379477" y="477773"/>
                    </a:lnTo>
                    <a:lnTo>
                      <a:pt x="424720" y="441864"/>
                    </a:lnTo>
                    <a:lnTo>
                      <a:pt x="574358" y="441864"/>
                    </a:lnTo>
                    <a:lnTo>
                      <a:pt x="451486" y="546925"/>
                    </a:lnTo>
                    <a:lnTo>
                      <a:pt x="578168" y="666654"/>
                    </a:lnTo>
                    <a:lnTo>
                      <a:pt x="418339" y="666654"/>
                    </a:lnTo>
                    <a:lnTo>
                      <a:pt x="364808" y="621315"/>
                    </a:lnTo>
                    <a:lnTo>
                      <a:pt x="312421" y="666654"/>
                    </a:lnTo>
                    <a:lnTo>
                      <a:pt x="148305" y="666654"/>
                    </a:lnTo>
                    <a:lnTo>
                      <a:pt x="185643" y="576071"/>
                    </a:lnTo>
                    <a:lnTo>
                      <a:pt x="254890" y="576071"/>
                    </a:lnTo>
                    <a:lnTo>
                      <a:pt x="284131" y="552925"/>
                    </a:lnTo>
                    <a:lnTo>
                      <a:pt x="218314" y="495680"/>
                    </a:lnTo>
                    <a:lnTo>
                      <a:pt x="227267" y="421385"/>
                    </a:lnTo>
                    <a:lnTo>
                      <a:pt x="171641" y="421385"/>
                    </a:lnTo>
                    <a:lnTo>
                      <a:pt x="206407" y="323944"/>
                    </a:lnTo>
                    <a:lnTo>
                      <a:pt x="238888" y="323944"/>
                    </a:lnTo>
                    <a:close/>
                    <a:moveTo>
                      <a:pt x="968121" y="250412"/>
                    </a:moveTo>
                    <a:lnTo>
                      <a:pt x="1654397" y="250412"/>
                    </a:lnTo>
                    <a:lnTo>
                      <a:pt x="1608106" y="358997"/>
                    </a:lnTo>
                    <a:lnTo>
                      <a:pt x="921734" y="358997"/>
                    </a:lnTo>
                    <a:close/>
                    <a:moveTo>
                      <a:pt x="240602" y="188023"/>
                    </a:moveTo>
                    <a:lnTo>
                      <a:pt x="608076" y="188023"/>
                    </a:lnTo>
                    <a:lnTo>
                      <a:pt x="573120" y="280320"/>
                    </a:lnTo>
                    <a:lnTo>
                      <a:pt x="204788" y="280320"/>
                    </a:lnTo>
                    <a:close/>
                    <a:moveTo>
                      <a:pt x="1518952" y="139350"/>
                    </a:moveTo>
                    <a:lnTo>
                      <a:pt x="1646301" y="139350"/>
                    </a:lnTo>
                    <a:lnTo>
                      <a:pt x="1608487" y="234219"/>
                    </a:lnTo>
                    <a:lnTo>
                      <a:pt x="1481995" y="234219"/>
                    </a:lnTo>
                    <a:close/>
                    <a:moveTo>
                      <a:pt x="1225773" y="139350"/>
                    </a:moveTo>
                    <a:lnTo>
                      <a:pt x="1349788" y="139350"/>
                    </a:lnTo>
                    <a:lnTo>
                      <a:pt x="1362266" y="234219"/>
                    </a:lnTo>
                    <a:lnTo>
                      <a:pt x="1235012" y="234219"/>
                    </a:lnTo>
                    <a:close/>
                    <a:moveTo>
                      <a:pt x="963454" y="139350"/>
                    </a:moveTo>
                    <a:lnTo>
                      <a:pt x="1087374" y="139350"/>
                    </a:lnTo>
                    <a:lnTo>
                      <a:pt x="1104233" y="234219"/>
                    </a:lnTo>
                    <a:lnTo>
                      <a:pt x="976884" y="234219"/>
                    </a:lnTo>
                    <a:close/>
                    <a:moveTo>
                      <a:pt x="1566006" y="1714"/>
                    </a:moveTo>
                    <a:lnTo>
                      <a:pt x="1710595" y="1714"/>
                    </a:lnTo>
                    <a:lnTo>
                      <a:pt x="1676877" y="76104"/>
                    </a:lnTo>
                    <a:cubicBezTo>
                      <a:pt x="1670495" y="90868"/>
                      <a:pt x="1660017" y="103060"/>
                      <a:pt x="1645158" y="112395"/>
                    </a:cubicBezTo>
                    <a:cubicBezTo>
                      <a:pt x="1630394" y="121824"/>
                      <a:pt x="1614107" y="126492"/>
                      <a:pt x="1596485" y="126492"/>
                    </a:cubicBezTo>
                    <a:lnTo>
                      <a:pt x="916972" y="126492"/>
                    </a:lnTo>
                    <a:lnTo>
                      <a:pt x="963835" y="20478"/>
                    </a:lnTo>
                    <a:lnTo>
                      <a:pt x="1555242" y="20478"/>
                    </a:lnTo>
                    <a:close/>
                    <a:moveTo>
                      <a:pt x="626364" y="0"/>
                    </a:moveTo>
                    <a:lnTo>
                      <a:pt x="745998" y="0"/>
                    </a:lnTo>
                    <a:lnTo>
                      <a:pt x="746188" y="55531"/>
                    </a:lnTo>
                    <a:lnTo>
                      <a:pt x="778669" y="55531"/>
                    </a:lnTo>
                    <a:lnTo>
                      <a:pt x="776573" y="1715"/>
                    </a:lnTo>
                    <a:lnTo>
                      <a:pt x="875633" y="1715"/>
                    </a:lnTo>
                    <a:lnTo>
                      <a:pt x="877729" y="55531"/>
                    </a:lnTo>
                    <a:lnTo>
                      <a:pt x="900779" y="55531"/>
                    </a:lnTo>
                    <a:lnTo>
                      <a:pt x="866394" y="164116"/>
                    </a:lnTo>
                    <a:lnTo>
                      <a:pt x="746760" y="164116"/>
                    </a:lnTo>
                    <a:lnTo>
                      <a:pt x="746855" y="292322"/>
                    </a:lnTo>
                    <a:lnTo>
                      <a:pt x="875919" y="292322"/>
                    </a:lnTo>
                    <a:lnTo>
                      <a:pt x="747713" y="442722"/>
                    </a:lnTo>
                    <a:lnTo>
                      <a:pt x="748379" y="558165"/>
                    </a:lnTo>
                    <a:cubicBezTo>
                      <a:pt x="748284" y="563309"/>
                      <a:pt x="750856" y="565880"/>
                      <a:pt x="755999" y="565880"/>
                    </a:cubicBezTo>
                    <a:lnTo>
                      <a:pt x="841438" y="565880"/>
                    </a:lnTo>
                    <a:lnTo>
                      <a:pt x="800100" y="668465"/>
                    </a:lnTo>
                    <a:lnTo>
                      <a:pt x="690658" y="668465"/>
                    </a:lnTo>
                    <a:cubicBezTo>
                      <a:pt x="670179" y="668465"/>
                      <a:pt x="654082" y="661226"/>
                      <a:pt x="642461" y="646652"/>
                    </a:cubicBezTo>
                    <a:cubicBezTo>
                      <a:pt x="630841" y="632174"/>
                      <a:pt x="625126" y="614648"/>
                      <a:pt x="625221" y="594074"/>
                    </a:cubicBezTo>
                    <a:lnTo>
                      <a:pt x="624649" y="555593"/>
                    </a:lnTo>
                    <a:lnTo>
                      <a:pt x="516064" y="555593"/>
                    </a:lnTo>
                    <a:lnTo>
                      <a:pt x="625412" y="427387"/>
                    </a:lnTo>
                    <a:lnTo>
                      <a:pt x="625316" y="164211"/>
                    </a:lnTo>
                    <a:lnTo>
                      <a:pt x="215074" y="164211"/>
                    </a:lnTo>
                    <a:cubicBezTo>
                      <a:pt x="212217" y="164211"/>
                      <a:pt x="209264" y="165354"/>
                      <a:pt x="206121" y="167640"/>
                    </a:cubicBezTo>
                    <a:cubicBezTo>
                      <a:pt x="202978" y="169926"/>
                      <a:pt x="201263" y="172498"/>
                      <a:pt x="200882" y="175355"/>
                    </a:cubicBezTo>
                    <a:lnTo>
                      <a:pt x="123920" y="668465"/>
                    </a:lnTo>
                    <a:lnTo>
                      <a:pt x="0" y="668465"/>
                    </a:lnTo>
                    <a:lnTo>
                      <a:pt x="87154" y="104394"/>
                    </a:lnTo>
                    <a:cubicBezTo>
                      <a:pt x="89154" y="92393"/>
                      <a:pt x="96012" y="81344"/>
                      <a:pt x="107823" y="71057"/>
                    </a:cubicBezTo>
                    <a:cubicBezTo>
                      <a:pt x="119539" y="60770"/>
                      <a:pt x="132874" y="55721"/>
                      <a:pt x="147733" y="55721"/>
                    </a:cubicBezTo>
                    <a:lnTo>
                      <a:pt x="625507" y="557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8" name="任意多边形: 形状 77"/>
              <p:cNvSpPr/>
              <p:nvPr/>
            </p:nvSpPr>
            <p:spPr>
              <a:xfrm>
                <a:off x="9831536" y="-787465"/>
                <a:ext cx="601408" cy="669131"/>
              </a:xfrm>
              <a:custGeom>
                <a:avLst/>
                <a:gdLst>
                  <a:gd name="connsiteX0" fmla="*/ 435864 w 601408"/>
                  <a:gd name="connsiteY0" fmla="*/ 0 h 669131"/>
                  <a:gd name="connsiteX1" fmla="*/ 372237 w 601408"/>
                  <a:gd name="connsiteY1" fmla="*/ 403289 h 669131"/>
                  <a:gd name="connsiteX2" fmla="*/ 256889 w 601408"/>
                  <a:gd name="connsiteY2" fmla="*/ 528733 h 669131"/>
                  <a:gd name="connsiteX3" fmla="*/ 165545 w 601408"/>
                  <a:gd name="connsiteY3" fmla="*/ 442436 h 669131"/>
                  <a:gd name="connsiteX4" fmla="*/ 170593 w 601408"/>
                  <a:gd name="connsiteY4" fmla="*/ 384239 h 669131"/>
                  <a:gd name="connsiteX5" fmla="*/ 231172 w 601408"/>
                  <a:gd name="connsiteY5" fmla="*/ 0 h 669131"/>
                  <a:gd name="connsiteX6" fmla="*/ 65627 w 601408"/>
                  <a:gd name="connsiteY6" fmla="*/ 0 h 669131"/>
                  <a:gd name="connsiteX7" fmla="*/ 7049 w 601408"/>
                  <a:gd name="connsiteY7" fmla="*/ 369189 h 669131"/>
                  <a:gd name="connsiteX8" fmla="*/ 0 w 601408"/>
                  <a:gd name="connsiteY8" fmla="*/ 458438 h 669131"/>
                  <a:gd name="connsiteX9" fmla="*/ 240792 w 601408"/>
                  <a:gd name="connsiteY9" fmla="*/ 669131 h 669131"/>
                  <a:gd name="connsiteX10" fmla="*/ 534733 w 601408"/>
                  <a:gd name="connsiteY10" fmla="*/ 422339 h 669131"/>
                  <a:gd name="connsiteX11" fmla="*/ 601408 w 601408"/>
                  <a:gd name="connsiteY11" fmla="*/ 0 h 669131"/>
                  <a:gd name="connsiteX12" fmla="*/ 435864 w 601408"/>
                  <a:gd name="connsiteY12" fmla="*/ 0 h 669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1408" h="669131">
                    <a:moveTo>
                      <a:pt x="435864" y="0"/>
                    </a:moveTo>
                    <a:lnTo>
                      <a:pt x="372237" y="403289"/>
                    </a:lnTo>
                    <a:cubicBezTo>
                      <a:pt x="360236" y="491585"/>
                      <a:pt x="324040" y="528733"/>
                      <a:pt x="256889" y="528733"/>
                    </a:cubicBezTo>
                    <a:cubicBezTo>
                      <a:pt x="197644" y="528733"/>
                      <a:pt x="165545" y="498634"/>
                      <a:pt x="165545" y="442436"/>
                    </a:cubicBezTo>
                    <a:cubicBezTo>
                      <a:pt x="165545" y="422339"/>
                      <a:pt x="169545" y="391287"/>
                      <a:pt x="170593" y="384239"/>
                    </a:cubicBezTo>
                    <a:lnTo>
                      <a:pt x="231172" y="0"/>
                    </a:lnTo>
                    <a:lnTo>
                      <a:pt x="65627" y="0"/>
                    </a:lnTo>
                    <a:lnTo>
                      <a:pt x="7049" y="369189"/>
                    </a:lnTo>
                    <a:cubicBezTo>
                      <a:pt x="2000" y="401288"/>
                      <a:pt x="0" y="431387"/>
                      <a:pt x="0" y="458438"/>
                    </a:cubicBezTo>
                    <a:cubicBezTo>
                      <a:pt x="0" y="590836"/>
                      <a:pt x="88297" y="669131"/>
                      <a:pt x="240792" y="669131"/>
                    </a:cubicBezTo>
                    <a:cubicBezTo>
                      <a:pt x="410337" y="669131"/>
                      <a:pt x="508635" y="586835"/>
                      <a:pt x="534733" y="422339"/>
                    </a:cubicBezTo>
                    <a:lnTo>
                      <a:pt x="601408" y="0"/>
                    </a:lnTo>
                    <a:lnTo>
                      <a:pt x="435864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9" name="任意多边形: 形状 78"/>
              <p:cNvSpPr/>
              <p:nvPr/>
            </p:nvSpPr>
            <p:spPr>
              <a:xfrm>
                <a:off x="8352970" y="-787465"/>
                <a:ext cx="506158" cy="669226"/>
              </a:xfrm>
              <a:custGeom>
                <a:avLst/>
                <a:gdLst>
                  <a:gd name="connsiteX0" fmla="*/ 420053 w 506158"/>
                  <a:gd name="connsiteY0" fmla="*/ 548831 h 669226"/>
                  <a:gd name="connsiteX1" fmla="*/ 183547 w 506158"/>
                  <a:gd name="connsiteY1" fmla="*/ 548831 h 669226"/>
                  <a:gd name="connsiteX2" fmla="*/ 209645 w 506158"/>
                  <a:gd name="connsiteY2" fmla="*/ 386239 h 669226"/>
                  <a:gd name="connsiteX3" fmla="*/ 445865 w 506158"/>
                  <a:gd name="connsiteY3" fmla="*/ 386239 h 669226"/>
                  <a:gd name="connsiteX4" fmla="*/ 465106 w 506158"/>
                  <a:gd name="connsiteY4" fmla="*/ 265843 h 669226"/>
                  <a:gd name="connsiteX5" fmla="*/ 228695 w 506158"/>
                  <a:gd name="connsiteY5" fmla="*/ 265843 h 669226"/>
                  <a:gd name="connsiteX6" fmla="*/ 251746 w 506158"/>
                  <a:gd name="connsiteY6" fmla="*/ 120396 h 669226"/>
                  <a:gd name="connsiteX7" fmla="*/ 487490 w 506158"/>
                  <a:gd name="connsiteY7" fmla="*/ 120396 h 669226"/>
                  <a:gd name="connsiteX8" fmla="*/ 506159 w 506158"/>
                  <a:gd name="connsiteY8" fmla="*/ 0 h 669226"/>
                  <a:gd name="connsiteX9" fmla="*/ 105347 w 506158"/>
                  <a:gd name="connsiteY9" fmla="*/ 0 h 669226"/>
                  <a:gd name="connsiteX10" fmla="*/ 0 w 506158"/>
                  <a:gd name="connsiteY10" fmla="*/ 669227 h 669226"/>
                  <a:gd name="connsiteX11" fmla="*/ 400812 w 506158"/>
                  <a:gd name="connsiteY11" fmla="*/ 669227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06158" h="669226">
                    <a:moveTo>
                      <a:pt x="420053" y="548831"/>
                    </a:moveTo>
                    <a:lnTo>
                      <a:pt x="183547" y="548831"/>
                    </a:lnTo>
                    <a:lnTo>
                      <a:pt x="209645" y="386239"/>
                    </a:lnTo>
                    <a:lnTo>
                      <a:pt x="445865" y="386239"/>
                    </a:lnTo>
                    <a:lnTo>
                      <a:pt x="465106" y="265843"/>
                    </a:lnTo>
                    <a:lnTo>
                      <a:pt x="228695" y="265843"/>
                    </a:lnTo>
                    <a:lnTo>
                      <a:pt x="251746" y="120396"/>
                    </a:lnTo>
                    <a:lnTo>
                      <a:pt x="487490" y="120396"/>
                    </a:lnTo>
                    <a:lnTo>
                      <a:pt x="506159" y="0"/>
                    </a:lnTo>
                    <a:lnTo>
                      <a:pt x="105347" y="0"/>
                    </a:lnTo>
                    <a:lnTo>
                      <a:pt x="0" y="669227"/>
                    </a:lnTo>
                    <a:lnTo>
                      <a:pt x="400812" y="66922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70" name="组合 69"/>
            <p:cNvGrpSpPr/>
            <p:nvPr/>
          </p:nvGrpSpPr>
          <p:grpSpPr>
            <a:xfrm>
              <a:off x="8800073" y="-787465"/>
              <a:ext cx="603695" cy="669227"/>
              <a:chOff x="8800073" y="-787465"/>
              <a:chExt cx="603695" cy="669227"/>
            </a:xfrm>
            <a:grpFill/>
          </p:grpSpPr>
          <p:sp>
            <p:nvSpPr>
              <p:cNvPr id="71" name="任意多边形: 形状 70"/>
              <p:cNvSpPr/>
              <p:nvPr/>
            </p:nvSpPr>
            <p:spPr>
              <a:xfrm>
                <a:off x="9059058" y="-692405"/>
                <a:ext cx="195358" cy="574167"/>
              </a:xfrm>
              <a:custGeom>
                <a:avLst/>
                <a:gdLst>
                  <a:gd name="connsiteX0" fmla="*/ 195358 w 195358"/>
                  <a:gd name="connsiteY0" fmla="*/ 0 h 574167"/>
                  <a:gd name="connsiteX1" fmla="*/ 104108 w 195358"/>
                  <a:gd name="connsiteY1" fmla="*/ 574167 h 574167"/>
                  <a:gd name="connsiteX2" fmla="*/ 0 w 195358"/>
                  <a:gd name="connsiteY2" fmla="*/ 574167 h 574167"/>
                  <a:gd name="connsiteX3" fmla="*/ 85058 w 195358"/>
                  <a:gd name="connsiteY3" fmla="*/ 39529 h 574167"/>
                  <a:gd name="connsiteX4" fmla="*/ 195358 w 195358"/>
                  <a:gd name="connsiteY4" fmla="*/ 0 h 574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8" h="574167">
                    <a:moveTo>
                      <a:pt x="195358" y="0"/>
                    </a:moveTo>
                    <a:lnTo>
                      <a:pt x="104108" y="574167"/>
                    </a:lnTo>
                    <a:lnTo>
                      <a:pt x="0" y="574167"/>
                    </a:lnTo>
                    <a:lnTo>
                      <a:pt x="85058" y="39529"/>
                    </a:lnTo>
                    <a:lnTo>
                      <a:pt x="19535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2" name="任意多边形: 形状 71"/>
              <p:cNvSpPr/>
              <p:nvPr/>
            </p:nvSpPr>
            <p:spPr>
              <a:xfrm>
                <a:off x="8924565" y="-645067"/>
                <a:ext cx="197929" cy="526828"/>
              </a:xfrm>
              <a:custGeom>
                <a:avLst/>
                <a:gdLst>
                  <a:gd name="connsiteX0" fmla="*/ 197929 w 197929"/>
                  <a:gd name="connsiteY0" fmla="*/ 0 h 526828"/>
                  <a:gd name="connsiteX1" fmla="*/ 114014 w 197929"/>
                  <a:gd name="connsiteY1" fmla="*/ 526828 h 526828"/>
                  <a:gd name="connsiteX2" fmla="*/ 0 w 197929"/>
                  <a:gd name="connsiteY2" fmla="*/ 526828 h 526828"/>
                  <a:gd name="connsiteX3" fmla="*/ 77057 w 197929"/>
                  <a:gd name="connsiteY3" fmla="*/ 43244 h 526828"/>
                  <a:gd name="connsiteX4" fmla="*/ 197929 w 197929"/>
                  <a:gd name="connsiteY4" fmla="*/ 0 h 52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7929" h="526828">
                    <a:moveTo>
                      <a:pt x="197929" y="0"/>
                    </a:moveTo>
                    <a:lnTo>
                      <a:pt x="114014" y="526828"/>
                    </a:lnTo>
                    <a:lnTo>
                      <a:pt x="0" y="526828"/>
                    </a:lnTo>
                    <a:lnTo>
                      <a:pt x="77057" y="43244"/>
                    </a:lnTo>
                    <a:lnTo>
                      <a:pt x="19792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3" name="任意多边形: 形状 72"/>
              <p:cNvSpPr/>
              <p:nvPr/>
            </p:nvSpPr>
            <p:spPr>
              <a:xfrm>
                <a:off x="8800073" y="-594107"/>
                <a:ext cx="179927" cy="475869"/>
              </a:xfrm>
              <a:custGeom>
                <a:avLst/>
                <a:gdLst>
                  <a:gd name="connsiteX0" fmla="*/ 179927 w 179927"/>
                  <a:gd name="connsiteY0" fmla="*/ 0 h 475869"/>
                  <a:gd name="connsiteX1" fmla="*/ 104108 w 179927"/>
                  <a:gd name="connsiteY1" fmla="*/ 475869 h 475869"/>
                  <a:gd name="connsiteX2" fmla="*/ 0 w 179927"/>
                  <a:gd name="connsiteY2" fmla="*/ 475869 h 475869"/>
                  <a:gd name="connsiteX3" fmla="*/ 69723 w 179927"/>
                  <a:gd name="connsiteY3" fmla="*/ 39434 h 475869"/>
                  <a:gd name="connsiteX4" fmla="*/ 179927 w 179927"/>
                  <a:gd name="connsiteY4" fmla="*/ 0 h 475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927" h="475869">
                    <a:moveTo>
                      <a:pt x="179927" y="0"/>
                    </a:moveTo>
                    <a:lnTo>
                      <a:pt x="104108" y="475869"/>
                    </a:lnTo>
                    <a:lnTo>
                      <a:pt x="0" y="475869"/>
                    </a:lnTo>
                    <a:lnTo>
                      <a:pt x="69723" y="39434"/>
                    </a:lnTo>
                    <a:lnTo>
                      <a:pt x="17992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74" name="任意多边形: 形状 73"/>
              <p:cNvSpPr/>
              <p:nvPr/>
            </p:nvSpPr>
            <p:spPr>
              <a:xfrm>
                <a:off x="8875702" y="-787465"/>
                <a:ext cx="528066" cy="189166"/>
              </a:xfrm>
              <a:custGeom>
                <a:avLst/>
                <a:gdLst>
                  <a:gd name="connsiteX0" fmla="*/ 528066 w 528066"/>
                  <a:gd name="connsiteY0" fmla="*/ 0 h 189166"/>
                  <a:gd name="connsiteX1" fmla="*/ 29337 w 528066"/>
                  <a:gd name="connsiteY1" fmla="*/ 0 h 189166"/>
                  <a:gd name="connsiteX2" fmla="*/ 0 w 528066"/>
                  <a:gd name="connsiteY2" fmla="*/ 189167 h 189166"/>
                  <a:gd name="connsiteX3" fmla="*/ 0 w 528066"/>
                  <a:gd name="connsiteY3" fmla="*/ 189167 h 189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8066" h="189166">
                    <a:moveTo>
                      <a:pt x="528066" y="0"/>
                    </a:moveTo>
                    <a:lnTo>
                      <a:pt x="29337" y="0"/>
                    </a:lnTo>
                    <a:lnTo>
                      <a:pt x="0" y="189167"/>
                    </a:lnTo>
                    <a:lnTo>
                      <a:pt x="0" y="18916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42" name="组合 41"/>
          <p:cNvGrpSpPr>
            <a:grpSpLocks noChangeAspect="1"/>
          </p:cNvGrpSpPr>
          <p:nvPr/>
        </p:nvGrpSpPr>
        <p:grpSpPr>
          <a:xfrm>
            <a:off x="374648" y="483689"/>
            <a:ext cx="2960544" cy="432000"/>
            <a:chOff x="7536297" y="-787466"/>
            <a:chExt cx="4586287" cy="669228"/>
          </a:xfrm>
          <a:solidFill>
            <a:schemeClr val="bg1"/>
          </a:solidFill>
        </p:grpSpPr>
        <p:grpSp>
          <p:nvGrpSpPr>
            <p:cNvPr id="43" name="组合 42"/>
            <p:cNvGrpSpPr/>
            <p:nvPr/>
          </p:nvGrpSpPr>
          <p:grpSpPr>
            <a:xfrm>
              <a:off x="7536297" y="-787466"/>
              <a:ext cx="4586287" cy="669227"/>
              <a:chOff x="7536297" y="-787466"/>
              <a:chExt cx="4586287" cy="669227"/>
            </a:xfrm>
            <a:grpFill/>
          </p:grpSpPr>
          <p:sp>
            <p:nvSpPr>
              <p:cNvPr id="49" name="任意多边形: 形状 48"/>
              <p:cNvSpPr/>
              <p:nvPr/>
            </p:nvSpPr>
            <p:spPr>
              <a:xfrm>
                <a:off x="7536297" y="-787465"/>
                <a:ext cx="876871" cy="669226"/>
              </a:xfrm>
              <a:custGeom>
                <a:avLst/>
                <a:gdLst>
                  <a:gd name="connsiteX0" fmla="*/ 407289 w 876871"/>
                  <a:gd name="connsiteY0" fmla="*/ 198692 h 669226"/>
                  <a:gd name="connsiteX1" fmla="*/ 338138 w 876871"/>
                  <a:gd name="connsiteY1" fmla="*/ 396335 h 669226"/>
                  <a:gd name="connsiteX2" fmla="*/ 228791 w 876871"/>
                  <a:gd name="connsiteY2" fmla="*/ 669227 h 669226"/>
                  <a:gd name="connsiteX3" fmla="*/ 47149 w 876871"/>
                  <a:gd name="connsiteY3" fmla="*/ 669227 h 669226"/>
                  <a:gd name="connsiteX4" fmla="*/ 0 w 876871"/>
                  <a:gd name="connsiteY4" fmla="*/ 0 h 669226"/>
                  <a:gd name="connsiteX5" fmla="*/ 157448 w 876871"/>
                  <a:gd name="connsiteY5" fmla="*/ 0 h 669226"/>
                  <a:gd name="connsiteX6" fmla="*/ 175546 w 876871"/>
                  <a:gd name="connsiteY6" fmla="*/ 332137 h 669226"/>
                  <a:gd name="connsiteX7" fmla="*/ 177546 w 876871"/>
                  <a:gd name="connsiteY7" fmla="*/ 508635 h 669226"/>
                  <a:gd name="connsiteX8" fmla="*/ 240792 w 876871"/>
                  <a:gd name="connsiteY8" fmla="*/ 323088 h 669226"/>
                  <a:gd name="connsiteX9" fmla="*/ 366236 w 876871"/>
                  <a:gd name="connsiteY9" fmla="*/ 0 h 669226"/>
                  <a:gd name="connsiteX10" fmla="*/ 506635 w 876871"/>
                  <a:gd name="connsiteY10" fmla="*/ 0 h 669226"/>
                  <a:gd name="connsiteX11" fmla="*/ 533781 w 876871"/>
                  <a:gd name="connsiteY11" fmla="*/ 322040 h 669226"/>
                  <a:gd name="connsiteX12" fmla="*/ 537686 w 876871"/>
                  <a:gd name="connsiteY12" fmla="*/ 508635 h 669226"/>
                  <a:gd name="connsiteX13" fmla="*/ 596932 w 876871"/>
                  <a:gd name="connsiteY13" fmla="*/ 334137 h 669226"/>
                  <a:gd name="connsiteX14" fmla="*/ 716375 w 876871"/>
                  <a:gd name="connsiteY14" fmla="*/ 0 h 669226"/>
                  <a:gd name="connsiteX15" fmla="*/ 876872 w 876871"/>
                  <a:gd name="connsiteY15" fmla="*/ 0 h 669226"/>
                  <a:gd name="connsiteX16" fmla="*/ 619030 w 876871"/>
                  <a:gd name="connsiteY16" fmla="*/ 669227 h 669226"/>
                  <a:gd name="connsiteX17" fmla="*/ 437388 w 876871"/>
                  <a:gd name="connsiteY17" fmla="*/ 669227 h 669226"/>
                  <a:gd name="connsiteX18" fmla="*/ 415385 w 876871"/>
                  <a:gd name="connsiteY18" fmla="*/ 398336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876871" h="669226">
                    <a:moveTo>
                      <a:pt x="407289" y="198692"/>
                    </a:moveTo>
                    <a:lnTo>
                      <a:pt x="338138" y="396335"/>
                    </a:lnTo>
                    <a:lnTo>
                      <a:pt x="228791" y="669227"/>
                    </a:lnTo>
                    <a:lnTo>
                      <a:pt x="47149" y="669227"/>
                    </a:lnTo>
                    <a:lnTo>
                      <a:pt x="0" y="0"/>
                    </a:lnTo>
                    <a:lnTo>
                      <a:pt x="157448" y="0"/>
                    </a:lnTo>
                    <a:lnTo>
                      <a:pt x="175546" y="332137"/>
                    </a:lnTo>
                    <a:lnTo>
                      <a:pt x="177546" y="508635"/>
                    </a:lnTo>
                    <a:lnTo>
                      <a:pt x="240792" y="323088"/>
                    </a:lnTo>
                    <a:lnTo>
                      <a:pt x="366236" y="0"/>
                    </a:lnTo>
                    <a:lnTo>
                      <a:pt x="506635" y="0"/>
                    </a:lnTo>
                    <a:lnTo>
                      <a:pt x="533781" y="322040"/>
                    </a:lnTo>
                    <a:lnTo>
                      <a:pt x="537686" y="508635"/>
                    </a:lnTo>
                    <a:lnTo>
                      <a:pt x="596932" y="334137"/>
                    </a:lnTo>
                    <a:lnTo>
                      <a:pt x="716375" y="0"/>
                    </a:lnTo>
                    <a:lnTo>
                      <a:pt x="876872" y="0"/>
                    </a:lnTo>
                    <a:lnTo>
                      <a:pt x="619030" y="669227"/>
                    </a:lnTo>
                    <a:lnTo>
                      <a:pt x="437388" y="669227"/>
                    </a:lnTo>
                    <a:lnTo>
                      <a:pt x="415385" y="398336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0" name="任意多边形: 形状 49"/>
              <p:cNvSpPr/>
              <p:nvPr/>
            </p:nvSpPr>
            <p:spPr>
              <a:xfrm>
                <a:off x="9342903" y="-787465"/>
                <a:ext cx="510635" cy="669226"/>
              </a:xfrm>
              <a:custGeom>
                <a:avLst/>
                <a:gdLst>
                  <a:gd name="connsiteX0" fmla="*/ 105346 w 510635"/>
                  <a:gd name="connsiteY0" fmla="*/ 0 h 669226"/>
                  <a:gd name="connsiteX1" fmla="*/ 510635 w 510635"/>
                  <a:gd name="connsiteY1" fmla="*/ 0 h 669226"/>
                  <a:gd name="connsiteX2" fmla="*/ 491585 w 510635"/>
                  <a:gd name="connsiteY2" fmla="*/ 120396 h 669226"/>
                  <a:gd name="connsiteX3" fmla="*/ 251841 w 510635"/>
                  <a:gd name="connsiteY3" fmla="*/ 120396 h 669226"/>
                  <a:gd name="connsiteX4" fmla="*/ 224790 w 510635"/>
                  <a:gd name="connsiteY4" fmla="*/ 291941 h 669226"/>
                  <a:gd name="connsiteX5" fmla="*/ 454438 w 510635"/>
                  <a:gd name="connsiteY5" fmla="*/ 291941 h 669226"/>
                  <a:gd name="connsiteX6" fmla="*/ 435388 w 510635"/>
                  <a:gd name="connsiteY6" fmla="*/ 412337 h 669226"/>
                  <a:gd name="connsiteX7" fmla="*/ 205645 w 510635"/>
                  <a:gd name="connsiteY7" fmla="*/ 412337 h 669226"/>
                  <a:gd name="connsiteX8" fmla="*/ 165545 w 510635"/>
                  <a:gd name="connsiteY8" fmla="*/ 669227 h 669226"/>
                  <a:gd name="connsiteX9" fmla="*/ 0 w 510635"/>
                  <a:gd name="connsiteY9" fmla="*/ 669227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10635" h="669226">
                    <a:moveTo>
                      <a:pt x="105346" y="0"/>
                    </a:moveTo>
                    <a:lnTo>
                      <a:pt x="510635" y="0"/>
                    </a:lnTo>
                    <a:lnTo>
                      <a:pt x="491585" y="120396"/>
                    </a:lnTo>
                    <a:lnTo>
                      <a:pt x="251841" y="120396"/>
                    </a:lnTo>
                    <a:lnTo>
                      <a:pt x="224790" y="291941"/>
                    </a:lnTo>
                    <a:lnTo>
                      <a:pt x="454438" y="291941"/>
                    </a:lnTo>
                    <a:lnTo>
                      <a:pt x="435388" y="412337"/>
                    </a:lnTo>
                    <a:lnTo>
                      <a:pt x="205645" y="412337"/>
                    </a:lnTo>
                    <a:lnTo>
                      <a:pt x="165545" y="669227"/>
                    </a:lnTo>
                    <a:lnTo>
                      <a:pt x="0" y="66922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1" name="任意多边形: 形状 50"/>
              <p:cNvSpPr/>
              <p:nvPr/>
            </p:nvSpPr>
            <p:spPr>
              <a:xfrm>
                <a:off x="10411989" y="-787466"/>
                <a:ext cx="1710595" cy="669226"/>
              </a:xfrm>
              <a:custGeom>
                <a:avLst/>
                <a:gdLst>
                  <a:gd name="connsiteX0" fmla="*/ 1392746 w 1710595"/>
                  <a:gd name="connsiteY0" fmla="*/ 373475 h 669226"/>
                  <a:gd name="connsiteX1" fmla="*/ 1585055 w 1710595"/>
                  <a:gd name="connsiteY1" fmla="*/ 373475 h 669226"/>
                  <a:gd name="connsiteX2" fmla="*/ 1502664 w 1710595"/>
                  <a:gd name="connsiteY2" fmla="*/ 418814 h 669226"/>
                  <a:gd name="connsiteX3" fmla="*/ 1686401 w 1710595"/>
                  <a:gd name="connsiteY3" fmla="*/ 418814 h 669226"/>
                  <a:gd name="connsiteX4" fmla="*/ 1636490 w 1710595"/>
                  <a:gd name="connsiteY4" fmla="*/ 521398 h 669226"/>
                  <a:gd name="connsiteX5" fmla="*/ 1357027 w 1710595"/>
                  <a:gd name="connsiteY5" fmla="*/ 521398 h 669226"/>
                  <a:gd name="connsiteX6" fmla="*/ 1345311 w 1710595"/>
                  <a:gd name="connsiteY6" fmla="*/ 618839 h 669226"/>
                  <a:gd name="connsiteX7" fmla="*/ 1326071 w 1710595"/>
                  <a:gd name="connsiteY7" fmla="*/ 654748 h 669226"/>
                  <a:gd name="connsiteX8" fmla="*/ 1288923 w 1710595"/>
                  <a:gd name="connsiteY8" fmla="*/ 669226 h 669226"/>
                  <a:gd name="connsiteX9" fmla="*/ 1045369 w 1710595"/>
                  <a:gd name="connsiteY9" fmla="*/ 669226 h 669226"/>
                  <a:gd name="connsiteX10" fmla="*/ 1101662 w 1710595"/>
                  <a:gd name="connsiteY10" fmla="*/ 570071 h 669226"/>
                  <a:gd name="connsiteX11" fmla="*/ 1212818 w 1710595"/>
                  <a:gd name="connsiteY11" fmla="*/ 570071 h 669226"/>
                  <a:gd name="connsiteX12" fmla="*/ 1222248 w 1710595"/>
                  <a:gd name="connsiteY12" fmla="*/ 566642 h 669226"/>
                  <a:gd name="connsiteX13" fmla="*/ 1227106 w 1710595"/>
                  <a:gd name="connsiteY13" fmla="*/ 558070 h 669226"/>
                  <a:gd name="connsiteX14" fmla="*/ 1231487 w 1710595"/>
                  <a:gd name="connsiteY14" fmla="*/ 521303 h 669226"/>
                  <a:gd name="connsiteX15" fmla="*/ 844296 w 1710595"/>
                  <a:gd name="connsiteY15" fmla="*/ 521303 h 669226"/>
                  <a:gd name="connsiteX16" fmla="*/ 887349 w 1710595"/>
                  <a:gd name="connsiteY16" fmla="*/ 418719 h 669226"/>
                  <a:gd name="connsiteX17" fmla="*/ 1301877 w 1710595"/>
                  <a:gd name="connsiteY17" fmla="*/ 418719 h 669226"/>
                  <a:gd name="connsiteX18" fmla="*/ 241650 w 1710595"/>
                  <a:gd name="connsiteY18" fmla="*/ 300894 h 669226"/>
                  <a:gd name="connsiteX19" fmla="*/ 357855 w 1710595"/>
                  <a:gd name="connsiteY19" fmla="*/ 300894 h 669226"/>
                  <a:gd name="connsiteX20" fmla="*/ 355093 w 1710595"/>
                  <a:gd name="connsiteY20" fmla="*/ 323944 h 669226"/>
                  <a:gd name="connsiteX21" fmla="*/ 613220 w 1710595"/>
                  <a:gd name="connsiteY21" fmla="*/ 323944 h 669226"/>
                  <a:gd name="connsiteX22" fmla="*/ 577597 w 1710595"/>
                  <a:gd name="connsiteY22" fmla="*/ 421385 h 669226"/>
                  <a:gd name="connsiteX23" fmla="*/ 343472 w 1710595"/>
                  <a:gd name="connsiteY23" fmla="*/ 421385 h 669226"/>
                  <a:gd name="connsiteX24" fmla="*/ 341091 w 1710595"/>
                  <a:gd name="connsiteY24" fmla="*/ 441007 h 669226"/>
                  <a:gd name="connsiteX25" fmla="*/ 379477 w 1710595"/>
                  <a:gd name="connsiteY25" fmla="*/ 477773 h 669226"/>
                  <a:gd name="connsiteX26" fmla="*/ 424720 w 1710595"/>
                  <a:gd name="connsiteY26" fmla="*/ 441864 h 669226"/>
                  <a:gd name="connsiteX27" fmla="*/ 574358 w 1710595"/>
                  <a:gd name="connsiteY27" fmla="*/ 441864 h 669226"/>
                  <a:gd name="connsiteX28" fmla="*/ 451486 w 1710595"/>
                  <a:gd name="connsiteY28" fmla="*/ 546925 h 669226"/>
                  <a:gd name="connsiteX29" fmla="*/ 578168 w 1710595"/>
                  <a:gd name="connsiteY29" fmla="*/ 666654 h 669226"/>
                  <a:gd name="connsiteX30" fmla="*/ 418339 w 1710595"/>
                  <a:gd name="connsiteY30" fmla="*/ 666654 h 669226"/>
                  <a:gd name="connsiteX31" fmla="*/ 364808 w 1710595"/>
                  <a:gd name="connsiteY31" fmla="*/ 621315 h 669226"/>
                  <a:gd name="connsiteX32" fmla="*/ 312421 w 1710595"/>
                  <a:gd name="connsiteY32" fmla="*/ 666654 h 669226"/>
                  <a:gd name="connsiteX33" fmla="*/ 148305 w 1710595"/>
                  <a:gd name="connsiteY33" fmla="*/ 666654 h 669226"/>
                  <a:gd name="connsiteX34" fmla="*/ 185643 w 1710595"/>
                  <a:gd name="connsiteY34" fmla="*/ 576071 h 669226"/>
                  <a:gd name="connsiteX35" fmla="*/ 254890 w 1710595"/>
                  <a:gd name="connsiteY35" fmla="*/ 576071 h 669226"/>
                  <a:gd name="connsiteX36" fmla="*/ 284131 w 1710595"/>
                  <a:gd name="connsiteY36" fmla="*/ 552925 h 669226"/>
                  <a:gd name="connsiteX37" fmla="*/ 218314 w 1710595"/>
                  <a:gd name="connsiteY37" fmla="*/ 495680 h 669226"/>
                  <a:gd name="connsiteX38" fmla="*/ 227267 w 1710595"/>
                  <a:gd name="connsiteY38" fmla="*/ 421385 h 669226"/>
                  <a:gd name="connsiteX39" fmla="*/ 171641 w 1710595"/>
                  <a:gd name="connsiteY39" fmla="*/ 421385 h 669226"/>
                  <a:gd name="connsiteX40" fmla="*/ 206407 w 1710595"/>
                  <a:gd name="connsiteY40" fmla="*/ 323944 h 669226"/>
                  <a:gd name="connsiteX41" fmla="*/ 238888 w 1710595"/>
                  <a:gd name="connsiteY41" fmla="*/ 323944 h 669226"/>
                  <a:gd name="connsiteX42" fmla="*/ 968121 w 1710595"/>
                  <a:gd name="connsiteY42" fmla="*/ 250412 h 669226"/>
                  <a:gd name="connsiteX43" fmla="*/ 1654397 w 1710595"/>
                  <a:gd name="connsiteY43" fmla="*/ 250412 h 669226"/>
                  <a:gd name="connsiteX44" fmla="*/ 1608106 w 1710595"/>
                  <a:gd name="connsiteY44" fmla="*/ 358997 h 669226"/>
                  <a:gd name="connsiteX45" fmla="*/ 921734 w 1710595"/>
                  <a:gd name="connsiteY45" fmla="*/ 358997 h 669226"/>
                  <a:gd name="connsiteX46" fmla="*/ 240602 w 1710595"/>
                  <a:gd name="connsiteY46" fmla="*/ 188023 h 669226"/>
                  <a:gd name="connsiteX47" fmla="*/ 608076 w 1710595"/>
                  <a:gd name="connsiteY47" fmla="*/ 188023 h 669226"/>
                  <a:gd name="connsiteX48" fmla="*/ 573120 w 1710595"/>
                  <a:gd name="connsiteY48" fmla="*/ 280320 h 669226"/>
                  <a:gd name="connsiteX49" fmla="*/ 204788 w 1710595"/>
                  <a:gd name="connsiteY49" fmla="*/ 280320 h 669226"/>
                  <a:gd name="connsiteX50" fmla="*/ 1518952 w 1710595"/>
                  <a:gd name="connsiteY50" fmla="*/ 139350 h 669226"/>
                  <a:gd name="connsiteX51" fmla="*/ 1646301 w 1710595"/>
                  <a:gd name="connsiteY51" fmla="*/ 139350 h 669226"/>
                  <a:gd name="connsiteX52" fmla="*/ 1608487 w 1710595"/>
                  <a:gd name="connsiteY52" fmla="*/ 234219 h 669226"/>
                  <a:gd name="connsiteX53" fmla="*/ 1481995 w 1710595"/>
                  <a:gd name="connsiteY53" fmla="*/ 234219 h 669226"/>
                  <a:gd name="connsiteX54" fmla="*/ 1225773 w 1710595"/>
                  <a:gd name="connsiteY54" fmla="*/ 139350 h 669226"/>
                  <a:gd name="connsiteX55" fmla="*/ 1349788 w 1710595"/>
                  <a:gd name="connsiteY55" fmla="*/ 139350 h 669226"/>
                  <a:gd name="connsiteX56" fmla="*/ 1362266 w 1710595"/>
                  <a:gd name="connsiteY56" fmla="*/ 234219 h 669226"/>
                  <a:gd name="connsiteX57" fmla="*/ 1235012 w 1710595"/>
                  <a:gd name="connsiteY57" fmla="*/ 234219 h 669226"/>
                  <a:gd name="connsiteX58" fmla="*/ 963454 w 1710595"/>
                  <a:gd name="connsiteY58" fmla="*/ 139350 h 669226"/>
                  <a:gd name="connsiteX59" fmla="*/ 1087374 w 1710595"/>
                  <a:gd name="connsiteY59" fmla="*/ 139350 h 669226"/>
                  <a:gd name="connsiteX60" fmla="*/ 1104233 w 1710595"/>
                  <a:gd name="connsiteY60" fmla="*/ 234219 h 669226"/>
                  <a:gd name="connsiteX61" fmla="*/ 976884 w 1710595"/>
                  <a:gd name="connsiteY61" fmla="*/ 234219 h 669226"/>
                  <a:gd name="connsiteX62" fmla="*/ 1566006 w 1710595"/>
                  <a:gd name="connsiteY62" fmla="*/ 1714 h 669226"/>
                  <a:gd name="connsiteX63" fmla="*/ 1710595 w 1710595"/>
                  <a:gd name="connsiteY63" fmla="*/ 1714 h 669226"/>
                  <a:gd name="connsiteX64" fmla="*/ 1676877 w 1710595"/>
                  <a:gd name="connsiteY64" fmla="*/ 76104 h 669226"/>
                  <a:gd name="connsiteX65" fmla="*/ 1645158 w 1710595"/>
                  <a:gd name="connsiteY65" fmla="*/ 112395 h 669226"/>
                  <a:gd name="connsiteX66" fmla="*/ 1596485 w 1710595"/>
                  <a:gd name="connsiteY66" fmla="*/ 126492 h 669226"/>
                  <a:gd name="connsiteX67" fmla="*/ 916972 w 1710595"/>
                  <a:gd name="connsiteY67" fmla="*/ 126492 h 669226"/>
                  <a:gd name="connsiteX68" fmla="*/ 963835 w 1710595"/>
                  <a:gd name="connsiteY68" fmla="*/ 20478 h 669226"/>
                  <a:gd name="connsiteX69" fmla="*/ 1555242 w 1710595"/>
                  <a:gd name="connsiteY69" fmla="*/ 20478 h 669226"/>
                  <a:gd name="connsiteX70" fmla="*/ 626364 w 1710595"/>
                  <a:gd name="connsiteY70" fmla="*/ 0 h 669226"/>
                  <a:gd name="connsiteX71" fmla="*/ 745998 w 1710595"/>
                  <a:gd name="connsiteY71" fmla="*/ 0 h 669226"/>
                  <a:gd name="connsiteX72" fmla="*/ 746188 w 1710595"/>
                  <a:gd name="connsiteY72" fmla="*/ 55531 h 669226"/>
                  <a:gd name="connsiteX73" fmla="*/ 778669 w 1710595"/>
                  <a:gd name="connsiteY73" fmla="*/ 55531 h 669226"/>
                  <a:gd name="connsiteX74" fmla="*/ 776573 w 1710595"/>
                  <a:gd name="connsiteY74" fmla="*/ 1715 h 669226"/>
                  <a:gd name="connsiteX75" fmla="*/ 875633 w 1710595"/>
                  <a:gd name="connsiteY75" fmla="*/ 1715 h 669226"/>
                  <a:gd name="connsiteX76" fmla="*/ 877729 w 1710595"/>
                  <a:gd name="connsiteY76" fmla="*/ 55531 h 669226"/>
                  <a:gd name="connsiteX77" fmla="*/ 900779 w 1710595"/>
                  <a:gd name="connsiteY77" fmla="*/ 55531 h 669226"/>
                  <a:gd name="connsiteX78" fmla="*/ 866394 w 1710595"/>
                  <a:gd name="connsiteY78" fmla="*/ 164116 h 669226"/>
                  <a:gd name="connsiteX79" fmla="*/ 746760 w 1710595"/>
                  <a:gd name="connsiteY79" fmla="*/ 164116 h 669226"/>
                  <a:gd name="connsiteX80" fmla="*/ 746855 w 1710595"/>
                  <a:gd name="connsiteY80" fmla="*/ 292322 h 669226"/>
                  <a:gd name="connsiteX81" fmla="*/ 875919 w 1710595"/>
                  <a:gd name="connsiteY81" fmla="*/ 292322 h 669226"/>
                  <a:gd name="connsiteX82" fmla="*/ 747713 w 1710595"/>
                  <a:gd name="connsiteY82" fmla="*/ 442722 h 669226"/>
                  <a:gd name="connsiteX83" fmla="*/ 748379 w 1710595"/>
                  <a:gd name="connsiteY83" fmla="*/ 558165 h 669226"/>
                  <a:gd name="connsiteX84" fmla="*/ 755999 w 1710595"/>
                  <a:gd name="connsiteY84" fmla="*/ 565880 h 669226"/>
                  <a:gd name="connsiteX85" fmla="*/ 841438 w 1710595"/>
                  <a:gd name="connsiteY85" fmla="*/ 565880 h 669226"/>
                  <a:gd name="connsiteX86" fmla="*/ 800100 w 1710595"/>
                  <a:gd name="connsiteY86" fmla="*/ 668465 h 669226"/>
                  <a:gd name="connsiteX87" fmla="*/ 690658 w 1710595"/>
                  <a:gd name="connsiteY87" fmla="*/ 668465 h 669226"/>
                  <a:gd name="connsiteX88" fmla="*/ 642461 w 1710595"/>
                  <a:gd name="connsiteY88" fmla="*/ 646652 h 669226"/>
                  <a:gd name="connsiteX89" fmla="*/ 625221 w 1710595"/>
                  <a:gd name="connsiteY89" fmla="*/ 594074 h 669226"/>
                  <a:gd name="connsiteX90" fmla="*/ 624649 w 1710595"/>
                  <a:gd name="connsiteY90" fmla="*/ 555593 h 669226"/>
                  <a:gd name="connsiteX91" fmla="*/ 516064 w 1710595"/>
                  <a:gd name="connsiteY91" fmla="*/ 555593 h 669226"/>
                  <a:gd name="connsiteX92" fmla="*/ 625412 w 1710595"/>
                  <a:gd name="connsiteY92" fmla="*/ 427387 h 669226"/>
                  <a:gd name="connsiteX93" fmla="*/ 625316 w 1710595"/>
                  <a:gd name="connsiteY93" fmla="*/ 164211 h 669226"/>
                  <a:gd name="connsiteX94" fmla="*/ 215074 w 1710595"/>
                  <a:gd name="connsiteY94" fmla="*/ 164211 h 669226"/>
                  <a:gd name="connsiteX95" fmla="*/ 206121 w 1710595"/>
                  <a:gd name="connsiteY95" fmla="*/ 167640 h 669226"/>
                  <a:gd name="connsiteX96" fmla="*/ 200882 w 1710595"/>
                  <a:gd name="connsiteY96" fmla="*/ 175355 h 669226"/>
                  <a:gd name="connsiteX97" fmla="*/ 123920 w 1710595"/>
                  <a:gd name="connsiteY97" fmla="*/ 668465 h 669226"/>
                  <a:gd name="connsiteX98" fmla="*/ 0 w 1710595"/>
                  <a:gd name="connsiteY98" fmla="*/ 668465 h 669226"/>
                  <a:gd name="connsiteX99" fmla="*/ 87154 w 1710595"/>
                  <a:gd name="connsiteY99" fmla="*/ 104394 h 669226"/>
                  <a:gd name="connsiteX100" fmla="*/ 107823 w 1710595"/>
                  <a:gd name="connsiteY100" fmla="*/ 71057 h 669226"/>
                  <a:gd name="connsiteX101" fmla="*/ 147733 w 1710595"/>
                  <a:gd name="connsiteY101" fmla="*/ 55721 h 669226"/>
                  <a:gd name="connsiteX102" fmla="*/ 625507 w 1710595"/>
                  <a:gd name="connsiteY102" fmla="*/ 55721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</a:cxnLst>
                <a:rect l="l" t="t" r="r" b="b"/>
                <a:pathLst>
                  <a:path w="1710595" h="669226">
                    <a:moveTo>
                      <a:pt x="1392746" y="373475"/>
                    </a:moveTo>
                    <a:lnTo>
                      <a:pt x="1585055" y="373475"/>
                    </a:lnTo>
                    <a:lnTo>
                      <a:pt x="1502664" y="418814"/>
                    </a:lnTo>
                    <a:lnTo>
                      <a:pt x="1686401" y="418814"/>
                    </a:lnTo>
                    <a:lnTo>
                      <a:pt x="1636490" y="521398"/>
                    </a:lnTo>
                    <a:lnTo>
                      <a:pt x="1357027" y="521398"/>
                    </a:lnTo>
                    <a:lnTo>
                      <a:pt x="1345311" y="618839"/>
                    </a:lnTo>
                    <a:cubicBezTo>
                      <a:pt x="1343597" y="633031"/>
                      <a:pt x="1337215" y="645033"/>
                      <a:pt x="1326071" y="654748"/>
                    </a:cubicBezTo>
                    <a:cubicBezTo>
                      <a:pt x="1314926" y="664464"/>
                      <a:pt x="1302544" y="669226"/>
                      <a:pt x="1288923" y="669226"/>
                    </a:cubicBezTo>
                    <a:lnTo>
                      <a:pt x="1045369" y="669226"/>
                    </a:lnTo>
                    <a:lnTo>
                      <a:pt x="1101662" y="570071"/>
                    </a:lnTo>
                    <a:lnTo>
                      <a:pt x="1212818" y="570071"/>
                    </a:lnTo>
                    <a:cubicBezTo>
                      <a:pt x="1216247" y="570071"/>
                      <a:pt x="1219391" y="568928"/>
                      <a:pt x="1222248" y="566642"/>
                    </a:cubicBezTo>
                    <a:cubicBezTo>
                      <a:pt x="1225106" y="564356"/>
                      <a:pt x="1226725" y="561499"/>
                      <a:pt x="1227106" y="558070"/>
                    </a:cubicBezTo>
                    <a:lnTo>
                      <a:pt x="1231487" y="521303"/>
                    </a:lnTo>
                    <a:lnTo>
                      <a:pt x="844296" y="521303"/>
                    </a:lnTo>
                    <a:lnTo>
                      <a:pt x="887349" y="418719"/>
                    </a:lnTo>
                    <a:lnTo>
                      <a:pt x="1301877" y="418719"/>
                    </a:lnTo>
                    <a:close/>
                    <a:moveTo>
                      <a:pt x="241650" y="300894"/>
                    </a:moveTo>
                    <a:lnTo>
                      <a:pt x="357855" y="300894"/>
                    </a:lnTo>
                    <a:lnTo>
                      <a:pt x="355093" y="323944"/>
                    </a:lnTo>
                    <a:lnTo>
                      <a:pt x="613220" y="323944"/>
                    </a:lnTo>
                    <a:lnTo>
                      <a:pt x="577597" y="421385"/>
                    </a:lnTo>
                    <a:lnTo>
                      <a:pt x="343472" y="421385"/>
                    </a:lnTo>
                    <a:lnTo>
                      <a:pt x="341091" y="441007"/>
                    </a:lnTo>
                    <a:lnTo>
                      <a:pt x="379477" y="477773"/>
                    </a:lnTo>
                    <a:lnTo>
                      <a:pt x="424720" y="441864"/>
                    </a:lnTo>
                    <a:lnTo>
                      <a:pt x="574358" y="441864"/>
                    </a:lnTo>
                    <a:lnTo>
                      <a:pt x="451486" y="546925"/>
                    </a:lnTo>
                    <a:lnTo>
                      <a:pt x="578168" y="666654"/>
                    </a:lnTo>
                    <a:lnTo>
                      <a:pt x="418339" y="666654"/>
                    </a:lnTo>
                    <a:lnTo>
                      <a:pt x="364808" y="621315"/>
                    </a:lnTo>
                    <a:lnTo>
                      <a:pt x="312421" y="666654"/>
                    </a:lnTo>
                    <a:lnTo>
                      <a:pt x="148305" y="666654"/>
                    </a:lnTo>
                    <a:lnTo>
                      <a:pt x="185643" y="576071"/>
                    </a:lnTo>
                    <a:lnTo>
                      <a:pt x="254890" y="576071"/>
                    </a:lnTo>
                    <a:lnTo>
                      <a:pt x="284131" y="552925"/>
                    </a:lnTo>
                    <a:lnTo>
                      <a:pt x="218314" y="495680"/>
                    </a:lnTo>
                    <a:lnTo>
                      <a:pt x="227267" y="421385"/>
                    </a:lnTo>
                    <a:lnTo>
                      <a:pt x="171641" y="421385"/>
                    </a:lnTo>
                    <a:lnTo>
                      <a:pt x="206407" y="323944"/>
                    </a:lnTo>
                    <a:lnTo>
                      <a:pt x="238888" y="323944"/>
                    </a:lnTo>
                    <a:close/>
                    <a:moveTo>
                      <a:pt x="968121" y="250412"/>
                    </a:moveTo>
                    <a:lnTo>
                      <a:pt x="1654397" y="250412"/>
                    </a:lnTo>
                    <a:lnTo>
                      <a:pt x="1608106" y="358997"/>
                    </a:lnTo>
                    <a:lnTo>
                      <a:pt x="921734" y="358997"/>
                    </a:lnTo>
                    <a:close/>
                    <a:moveTo>
                      <a:pt x="240602" y="188023"/>
                    </a:moveTo>
                    <a:lnTo>
                      <a:pt x="608076" y="188023"/>
                    </a:lnTo>
                    <a:lnTo>
                      <a:pt x="573120" y="280320"/>
                    </a:lnTo>
                    <a:lnTo>
                      <a:pt x="204788" y="280320"/>
                    </a:lnTo>
                    <a:close/>
                    <a:moveTo>
                      <a:pt x="1518952" y="139350"/>
                    </a:moveTo>
                    <a:lnTo>
                      <a:pt x="1646301" y="139350"/>
                    </a:lnTo>
                    <a:lnTo>
                      <a:pt x="1608487" y="234219"/>
                    </a:lnTo>
                    <a:lnTo>
                      <a:pt x="1481995" y="234219"/>
                    </a:lnTo>
                    <a:close/>
                    <a:moveTo>
                      <a:pt x="1225773" y="139350"/>
                    </a:moveTo>
                    <a:lnTo>
                      <a:pt x="1349788" y="139350"/>
                    </a:lnTo>
                    <a:lnTo>
                      <a:pt x="1362266" y="234219"/>
                    </a:lnTo>
                    <a:lnTo>
                      <a:pt x="1235012" y="234219"/>
                    </a:lnTo>
                    <a:close/>
                    <a:moveTo>
                      <a:pt x="963454" y="139350"/>
                    </a:moveTo>
                    <a:lnTo>
                      <a:pt x="1087374" y="139350"/>
                    </a:lnTo>
                    <a:lnTo>
                      <a:pt x="1104233" y="234219"/>
                    </a:lnTo>
                    <a:lnTo>
                      <a:pt x="976884" y="234219"/>
                    </a:lnTo>
                    <a:close/>
                    <a:moveTo>
                      <a:pt x="1566006" y="1714"/>
                    </a:moveTo>
                    <a:lnTo>
                      <a:pt x="1710595" y="1714"/>
                    </a:lnTo>
                    <a:lnTo>
                      <a:pt x="1676877" y="76104"/>
                    </a:lnTo>
                    <a:cubicBezTo>
                      <a:pt x="1670495" y="90868"/>
                      <a:pt x="1660017" y="103060"/>
                      <a:pt x="1645158" y="112395"/>
                    </a:cubicBezTo>
                    <a:cubicBezTo>
                      <a:pt x="1630394" y="121824"/>
                      <a:pt x="1614107" y="126492"/>
                      <a:pt x="1596485" y="126492"/>
                    </a:cubicBezTo>
                    <a:lnTo>
                      <a:pt x="916972" y="126492"/>
                    </a:lnTo>
                    <a:lnTo>
                      <a:pt x="963835" y="20478"/>
                    </a:lnTo>
                    <a:lnTo>
                      <a:pt x="1555242" y="20478"/>
                    </a:lnTo>
                    <a:close/>
                    <a:moveTo>
                      <a:pt x="626364" y="0"/>
                    </a:moveTo>
                    <a:lnTo>
                      <a:pt x="745998" y="0"/>
                    </a:lnTo>
                    <a:lnTo>
                      <a:pt x="746188" y="55531"/>
                    </a:lnTo>
                    <a:lnTo>
                      <a:pt x="778669" y="55531"/>
                    </a:lnTo>
                    <a:lnTo>
                      <a:pt x="776573" y="1715"/>
                    </a:lnTo>
                    <a:lnTo>
                      <a:pt x="875633" y="1715"/>
                    </a:lnTo>
                    <a:lnTo>
                      <a:pt x="877729" y="55531"/>
                    </a:lnTo>
                    <a:lnTo>
                      <a:pt x="900779" y="55531"/>
                    </a:lnTo>
                    <a:lnTo>
                      <a:pt x="866394" y="164116"/>
                    </a:lnTo>
                    <a:lnTo>
                      <a:pt x="746760" y="164116"/>
                    </a:lnTo>
                    <a:lnTo>
                      <a:pt x="746855" y="292322"/>
                    </a:lnTo>
                    <a:lnTo>
                      <a:pt x="875919" y="292322"/>
                    </a:lnTo>
                    <a:lnTo>
                      <a:pt x="747713" y="442722"/>
                    </a:lnTo>
                    <a:lnTo>
                      <a:pt x="748379" y="558165"/>
                    </a:lnTo>
                    <a:cubicBezTo>
                      <a:pt x="748284" y="563309"/>
                      <a:pt x="750856" y="565880"/>
                      <a:pt x="755999" y="565880"/>
                    </a:cubicBezTo>
                    <a:lnTo>
                      <a:pt x="841438" y="565880"/>
                    </a:lnTo>
                    <a:lnTo>
                      <a:pt x="800100" y="668465"/>
                    </a:lnTo>
                    <a:lnTo>
                      <a:pt x="690658" y="668465"/>
                    </a:lnTo>
                    <a:cubicBezTo>
                      <a:pt x="670179" y="668465"/>
                      <a:pt x="654082" y="661226"/>
                      <a:pt x="642461" y="646652"/>
                    </a:cubicBezTo>
                    <a:cubicBezTo>
                      <a:pt x="630841" y="632174"/>
                      <a:pt x="625126" y="614648"/>
                      <a:pt x="625221" y="594074"/>
                    </a:cubicBezTo>
                    <a:lnTo>
                      <a:pt x="624649" y="555593"/>
                    </a:lnTo>
                    <a:lnTo>
                      <a:pt x="516064" y="555593"/>
                    </a:lnTo>
                    <a:lnTo>
                      <a:pt x="625412" y="427387"/>
                    </a:lnTo>
                    <a:lnTo>
                      <a:pt x="625316" y="164211"/>
                    </a:lnTo>
                    <a:lnTo>
                      <a:pt x="215074" y="164211"/>
                    </a:lnTo>
                    <a:cubicBezTo>
                      <a:pt x="212217" y="164211"/>
                      <a:pt x="209264" y="165354"/>
                      <a:pt x="206121" y="167640"/>
                    </a:cubicBezTo>
                    <a:cubicBezTo>
                      <a:pt x="202978" y="169926"/>
                      <a:pt x="201263" y="172498"/>
                      <a:pt x="200882" y="175355"/>
                    </a:cubicBezTo>
                    <a:lnTo>
                      <a:pt x="123920" y="668465"/>
                    </a:lnTo>
                    <a:lnTo>
                      <a:pt x="0" y="668465"/>
                    </a:lnTo>
                    <a:lnTo>
                      <a:pt x="87154" y="104394"/>
                    </a:lnTo>
                    <a:cubicBezTo>
                      <a:pt x="89154" y="92393"/>
                      <a:pt x="96012" y="81344"/>
                      <a:pt x="107823" y="71057"/>
                    </a:cubicBezTo>
                    <a:cubicBezTo>
                      <a:pt x="119539" y="60770"/>
                      <a:pt x="132874" y="55721"/>
                      <a:pt x="147733" y="55721"/>
                    </a:cubicBezTo>
                    <a:lnTo>
                      <a:pt x="625507" y="55721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2" name="任意多边形: 形状 51"/>
              <p:cNvSpPr/>
              <p:nvPr/>
            </p:nvSpPr>
            <p:spPr>
              <a:xfrm>
                <a:off x="9831536" y="-787465"/>
                <a:ext cx="601408" cy="669131"/>
              </a:xfrm>
              <a:custGeom>
                <a:avLst/>
                <a:gdLst>
                  <a:gd name="connsiteX0" fmla="*/ 435864 w 601408"/>
                  <a:gd name="connsiteY0" fmla="*/ 0 h 669131"/>
                  <a:gd name="connsiteX1" fmla="*/ 372237 w 601408"/>
                  <a:gd name="connsiteY1" fmla="*/ 403289 h 669131"/>
                  <a:gd name="connsiteX2" fmla="*/ 256889 w 601408"/>
                  <a:gd name="connsiteY2" fmla="*/ 528733 h 669131"/>
                  <a:gd name="connsiteX3" fmla="*/ 165545 w 601408"/>
                  <a:gd name="connsiteY3" fmla="*/ 442436 h 669131"/>
                  <a:gd name="connsiteX4" fmla="*/ 170593 w 601408"/>
                  <a:gd name="connsiteY4" fmla="*/ 384239 h 669131"/>
                  <a:gd name="connsiteX5" fmla="*/ 231172 w 601408"/>
                  <a:gd name="connsiteY5" fmla="*/ 0 h 669131"/>
                  <a:gd name="connsiteX6" fmla="*/ 65627 w 601408"/>
                  <a:gd name="connsiteY6" fmla="*/ 0 h 669131"/>
                  <a:gd name="connsiteX7" fmla="*/ 7049 w 601408"/>
                  <a:gd name="connsiteY7" fmla="*/ 369189 h 669131"/>
                  <a:gd name="connsiteX8" fmla="*/ 0 w 601408"/>
                  <a:gd name="connsiteY8" fmla="*/ 458438 h 669131"/>
                  <a:gd name="connsiteX9" fmla="*/ 240792 w 601408"/>
                  <a:gd name="connsiteY9" fmla="*/ 669131 h 669131"/>
                  <a:gd name="connsiteX10" fmla="*/ 534733 w 601408"/>
                  <a:gd name="connsiteY10" fmla="*/ 422339 h 669131"/>
                  <a:gd name="connsiteX11" fmla="*/ 601408 w 601408"/>
                  <a:gd name="connsiteY11" fmla="*/ 0 h 669131"/>
                  <a:gd name="connsiteX12" fmla="*/ 435864 w 601408"/>
                  <a:gd name="connsiteY12" fmla="*/ 0 h 6691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601408" h="669131">
                    <a:moveTo>
                      <a:pt x="435864" y="0"/>
                    </a:moveTo>
                    <a:lnTo>
                      <a:pt x="372237" y="403289"/>
                    </a:lnTo>
                    <a:cubicBezTo>
                      <a:pt x="360236" y="491585"/>
                      <a:pt x="324040" y="528733"/>
                      <a:pt x="256889" y="528733"/>
                    </a:cubicBezTo>
                    <a:cubicBezTo>
                      <a:pt x="197644" y="528733"/>
                      <a:pt x="165545" y="498634"/>
                      <a:pt x="165545" y="442436"/>
                    </a:cubicBezTo>
                    <a:cubicBezTo>
                      <a:pt x="165545" y="422339"/>
                      <a:pt x="169545" y="391287"/>
                      <a:pt x="170593" y="384239"/>
                    </a:cubicBezTo>
                    <a:lnTo>
                      <a:pt x="231172" y="0"/>
                    </a:lnTo>
                    <a:lnTo>
                      <a:pt x="65627" y="0"/>
                    </a:lnTo>
                    <a:lnTo>
                      <a:pt x="7049" y="369189"/>
                    </a:lnTo>
                    <a:cubicBezTo>
                      <a:pt x="2000" y="401288"/>
                      <a:pt x="0" y="431387"/>
                      <a:pt x="0" y="458438"/>
                    </a:cubicBezTo>
                    <a:cubicBezTo>
                      <a:pt x="0" y="590836"/>
                      <a:pt x="88297" y="669131"/>
                      <a:pt x="240792" y="669131"/>
                    </a:cubicBezTo>
                    <a:cubicBezTo>
                      <a:pt x="410337" y="669131"/>
                      <a:pt x="508635" y="586835"/>
                      <a:pt x="534733" y="422339"/>
                    </a:cubicBezTo>
                    <a:lnTo>
                      <a:pt x="601408" y="0"/>
                    </a:lnTo>
                    <a:lnTo>
                      <a:pt x="435864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53" name="任意多边形: 形状 52"/>
              <p:cNvSpPr/>
              <p:nvPr/>
            </p:nvSpPr>
            <p:spPr>
              <a:xfrm>
                <a:off x="8352970" y="-787465"/>
                <a:ext cx="506158" cy="669226"/>
              </a:xfrm>
              <a:custGeom>
                <a:avLst/>
                <a:gdLst>
                  <a:gd name="connsiteX0" fmla="*/ 420053 w 506158"/>
                  <a:gd name="connsiteY0" fmla="*/ 548831 h 669226"/>
                  <a:gd name="connsiteX1" fmla="*/ 183547 w 506158"/>
                  <a:gd name="connsiteY1" fmla="*/ 548831 h 669226"/>
                  <a:gd name="connsiteX2" fmla="*/ 209645 w 506158"/>
                  <a:gd name="connsiteY2" fmla="*/ 386239 h 669226"/>
                  <a:gd name="connsiteX3" fmla="*/ 445865 w 506158"/>
                  <a:gd name="connsiteY3" fmla="*/ 386239 h 669226"/>
                  <a:gd name="connsiteX4" fmla="*/ 465106 w 506158"/>
                  <a:gd name="connsiteY4" fmla="*/ 265843 h 669226"/>
                  <a:gd name="connsiteX5" fmla="*/ 228695 w 506158"/>
                  <a:gd name="connsiteY5" fmla="*/ 265843 h 669226"/>
                  <a:gd name="connsiteX6" fmla="*/ 251746 w 506158"/>
                  <a:gd name="connsiteY6" fmla="*/ 120396 h 669226"/>
                  <a:gd name="connsiteX7" fmla="*/ 487490 w 506158"/>
                  <a:gd name="connsiteY7" fmla="*/ 120396 h 669226"/>
                  <a:gd name="connsiteX8" fmla="*/ 506159 w 506158"/>
                  <a:gd name="connsiteY8" fmla="*/ 0 h 669226"/>
                  <a:gd name="connsiteX9" fmla="*/ 105347 w 506158"/>
                  <a:gd name="connsiteY9" fmla="*/ 0 h 669226"/>
                  <a:gd name="connsiteX10" fmla="*/ 0 w 506158"/>
                  <a:gd name="connsiteY10" fmla="*/ 669227 h 669226"/>
                  <a:gd name="connsiteX11" fmla="*/ 400812 w 506158"/>
                  <a:gd name="connsiteY11" fmla="*/ 669227 h 6692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506158" h="669226">
                    <a:moveTo>
                      <a:pt x="420053" y="548831"/>
                    </a:moveTo>
                    <a:lnTo>
                      <a:pt x="183547" y="548831"/>
                    </a:lnTo>
                    <a:lnTo>
                      <a:pt x="209645" y="386239"/>
                    </a:lnTo>
                    <a:lnTo>
                      <a:pt x="445865" y="386239"/>
                    </a:lnTo>
                    <a:lnTo>
                      <a:pt x="465106" y="265843"/>
                    </a:lnTo>
                    <a:lnTo>
                      <a:pt x="228695" y="265843"/>
                    </a:lnTo>
                    <a:lnTo>
                      <a:pt x="251746" y="120396"/>
                    </a:lnTo>
                    <a:lnTo>
                      <a:pt x="487490" y="120396"/>
                    </a:lnTo>
                    <a:lnTo>
                      <a:pt x="506159" y="0"/>
                    </a:lnTo>
                    <a:lnTo>
                      <a:pt x="105347" y="0"/>
                    </a:lnTo>
                    <a:lnTo>
                      <a:pt x="0" y="669227"/>
                    </a:lnTo>
                    <a:lnTo>
                      <a:pt x="400812" y="66922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  <p:grpSp>
          <p:nvGrpSpPr>
            <p:cNvPr id="44" name="组合 43"/>
            <p:cNvGrpSpPr/>
            <p:nvPr/>
          </p:nvGrpSpPr>
          <p:grpSpPr>
            <a:xfrm>
              <a:off x="8800073" y="-787465"/>
              <a:ext cx="603695" cy="669227"/>
              <a:chOff x="8800073" y="-787465"/>
              <a:chExt cx="603695" cy="669227"/>
            </a:xfrm>
            <a:grpFill/>
          </p:grpSpPr>
          <p:sp>
            <p:nvSpPr>
              <p:cNvPr id="45" name="任意多边形: 形状 44"/>
              <p:cNvSpPr/>
              <p:nvPr/>
            </p:nvSpPr>
            <p:spPr>
              <a:xfrm>
                <a:off x="9059058" y="-692405"/>
                <a:ext cx="195358" cy="574167"/>
              </a:xfrm>
              <a:custGeom>
                <a:avLst/>
                <a:gdLst>
                  <a:gd name="connsiteX0" fmla="*/ 195358 w 195358"/>
                  <a:gd name="connsiteY0" fmla="*/ 0 h 574167"/>
                  <a:gd name="connsiteX1" fmla="*/ 104108 w 195358"/>
                  <a:gd name="connsiteY1" fmla="*/ 574167 h 574167"/>
                  <a:gd name="connsiteX2" fmla="*/ 0 w 195358"/>
                  <a:gd name="connsiteY2" fmla="*/ 574167 h 574167"/>
                  <a:gd name="connsiteX3" fmla="*/ 85058 w 195358"/>
                  <a:gd name="connsiteY3" fmla="*/ 39529 h 574167"/>
                  <a:gd name="connsiteX4" fmla="*/ 195358 w 195358"/>
                  <a:gd name="connsiteY4" fmla="*/ 0 h 5741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8" h="574167">
                    <a:moveTo>
                      <a:pt x="195358" y="0"/>
                    </a:moveTo>
                    <a:lnTo>
                      <a:pt x="104108" y="574167"/>
                    </a:lnTo>
                    <a:lnTo>
                      <a:pt x="0" y="574167"/>
                    </a:lnTo>
                    <a:lnTo>
                      <a:pt x="85058" y="39529"/>
                    </a:lnTo>
                    <a:lnTo>
                      <a:pt x="195358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6" name="任意多边形: 形状 45"/>
              <p:cNvSpPr/>
              <p:nvPr/>
            </p:nvSpPr>
            <p:spPr>
              <a:xfrm>
                <a:off x="8924565" y="-645067"/>
                <a:ext cx="197929" cy="526828"/>
              </a:xfrm>
              <a:custGeom>
                <a:avLst/>
                <a:gdLst>
                  <a:gd name="connsiteX0" fmla="*/ 197929 w 197929"/>
                  <a:gd name="connsiteY0" fmla="*/ 0 h 526828"/>
                  <a:gd name="connsiteX1" fmla="*/ 114014 w 197929"/>
                  <a:gd name="connsiteY1" fmla="*/ 526828 h 526828"/>
                  <a:gd name="connsiteX2" fmla="*/ 0 w 197929"/>
                  <a:gd name="connsiteY2" fmla="*/ 526828 h 526828"/>
                  <a:gd name="connsiteX3" fmla="*/ 77057 w 197929"/>
                  <a:gd name="connsiteY3" fmla="*/ 43244 h 526828"/>
                  <a:gd name="connsiteX4" fmla="*/ 197929 w 197929"/>
                  <a:gd name="connsiteY4" fmla="*/ 0 h 526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7929" h="526828">
                    <a:moveTo>
                      <a:pt x="197929" y="0"/>
                    </a:moveTo>
                    <a:lnTo>
                      <a:pt x="114014" y="526828"/>
                    </a:lnTo>
                    <a:lnTo>
                      <a:pt x="0" y="526828"/>
                    </a:lnTo>
                    <a:lnTo>
                      <a:pt x="77057" y="43244"/>
                    </a:lnTo>
                    <a:lnTo>
                      <a:pt x="197929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7" name="任意多边形: 形状 46"/>
              <p:cNvSpPr/>
              <p:nvPr/>
            </p:nvSpPr>
            <p:spPr>
              <a:xfrm>
                <a:off x="8800073" y="-594107"/>
                <a:ext cx="179927" cy="475869"/>
              </a:xfrm>
              <a:custGeom>
                <a:avLst/>
                <a:gdLst>
                  <a:gd name="connsiteX0" fmla="*/ 179927 w 179927"/>
                  <a:gd name="connsiteY0" fmla="*/ 0 h 475869"/>
                  <a:gd name="connsiteX1" fmla="*/ 104108 w 179927"/>
                  <a:gd name="connsiteY1" fmla="*/ 475869 h 475869"/>
                  <a:gd name="connsiteX2" fmla="*/ 0 w 179927"/>
                  <a:gd name="connsiteY2" fmla="*/ 475869 h 475869"/>
                  <a:gd name="connsiteX3" fmla="*/ 69723 w 179927"/>
                  <a:gd name="connsiteY3" fmla="*/ 39434 h 475869"/>
                  <a:gd name="connsiteX4" fmla="*/ 179927 w 179927"/>
                  <a:gd name="connsiteY4" fmla="*/ 0 h 4758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9927" h="475869">
                    <a:moveTo>
                      <a:pt x="179927" y="0"/>
                    </a:moveTo>
                    <a:lnTo>
                      <a:pt x="104108" y="475869"/>
                    </a:lnTo>
                    <a:lnTo>
                      <a:pt x="0" y="475869"/>
                    </a:lnTo>
                    <a:lnTo>
                      <a:pt x="69723" y="39434"/>
                    </a:lnTo>
                    <a:lnTo>
                      <a:pt x="179927" y="0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  <p:sp>
            <p:nvSpPr>
              <p:cNvPr id="48" name="任意多边形: 形状 47"/>
              <p:cNvSpPr/>
              <p:nvPr/>
            </p:nvSpPr>
            <p:spPr>
              <a:xfrm>
                <a:off x="8875702" y="-787465"/>
                <a:ext cx="528066" cy="189166"/>
              </a:xfrm>
              <a:custGeom>
                <a:avLst/>
                <a:gdLst>
                  <a:gd name="connsiteX0" fmla="*/ 528066 w 528066"/>
                  <a:gd name="connsiteY0" fmla="*/ 0 h 189166"/>
                  <a:gd name="connsiteX1" fmla="*/ 29337 w 528066"/>
                  <a:gd name="connsiteY1" fmla="*/ 0 h 189166"/>
                  <a:gd name="connsiteX2" fmla="*/ 0 w 528066"/>
                  <a:gd name="connsiteY2" fmla="*/ 189167 h 189166"/>
                  <a:gd name="connsiteX3" fmla="*/ 0 w 528066"/>
                  <a:gd name="connsiteY3" fmla="*/ 189167 h 189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8066" h="189166">
                    <a:moveTo>
                      <a:pt x="528066" y="0"/>
                    </a:moveTo>
                    <a:lnTo>
                      <a:pt x="29337" y="0"/>
                    </a:lnTo>
                    <a:lnTo>
                      <a:pt x="0" y="189167"/>
                    </a:lnTo>
                    <a:lnTo>
                      <a:pt x="0" y="189167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>
                  <a:solidFill>
                    <a:prstClr val="white"/>
                  </a:solidFill>
                </a:endParaRPr>
              </a:p>
            </p:txBody>
          </p:sp>
        </p:grpSp>
      </p:grpSp>
      <p:grpSp>
        <p:nvGrpSpPr>
          <p:cNvPr id="10" name="组合 9"/>
          <p:cNvGrpSpPr/>
          <p:nvPr/>
        </p:nvGrpSpPr>
        <p:grpSpPr>
          <a:xfrm>
            <a:off x="-11190" y="4146896"/>
            <a:ext cx="12201641" cy="109753"/>
            <a:chOff x="-11190" y="4146896"/>
            <a:chExt cx="12201641" cy="109753"/>
          </a:xfrm>
        </p:grpSpPr>
        <p:grpSp>
          <p:nvGrpSpPr>
            <p:cNvPr id="3" name="组合 2"/>
            <p:cNvGrpSpPr/>
            <p:nvPr/>
          </p:nvGrpSpPr>
          <p:grpSpPr>
            <a:xfrm>
              <a:off x="-11190" y="4146896"/>
              <a:ext cx="10937156" cy="109753"/>
              <a:chOff x="-11190" y="4146896"/>
              <a:chExt cx="10937156" cy="109753"/>
            </a:xfrm>
          </p:grpSpPr>
          <p:sp>
            <p:nvSpPr>
              <p:cNvPr id="5" name="Rectangle 4"/>
              <p:cNvSpPr>
                <a:spLocks noChangeArrowheads="1"/>
              </p:cNvSpPr>
              <p:nvPr/>
            </p:nvSpPr>
            <p:spPr bwMode="auto">
              <a:xfrm>
                <a:off x="-11190" y="4146896"/>
                <a:ext cx="7153101" cy="1097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" name="Rectangle 5"/>
              <p:cNvSpPr>
                <a:spLocks noChangeArrowheads="1"/>
              </p:cNvSpPr>
              <p:nvPr/>
            </p:nvSpPr>
            <p:spPr bwMode="auto">
              <a:xfrm>
                <a:off x="7129376" y="4146896"/>
                <a:ext cx="1266051" cy="109753"/>
              </a:xfrm>
              <a:prstGeom prst="rect">
                <a:avLst/>
              </a:prstGeom>
              <a:solidFill>
                <a:srgbClr val="87CFE6"/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" name="Rectangle 6"/>
              <p:cNvSpPr>
                <a:spLocks noChangeArrowheads="1"/>
              </p:cNvSpPr>
              <p:nvPr/>
            </p:nvSpPr>
            <p:spPr bwMode="auto">
              <a:xfrm>
                <a:off x="8395429" y="4146896"/>
                <a:ext cx="1264485" cy="109753"/>
              </a:xfrm>
              <a:prstGeom prst="rect">
                <a:avLst/>
              </a:prstGeom>
              <a:solidFill>
                <a:srgbClr val="71AF3A"/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" name="Rectangle 9"/>
              <p:cNvSpPr>
                <a:spLocks noChangeArrowheads="1"/>
              </p:cNvSpPr>
              <p:nvPr/>
            </p:nvSpPr>
            <p:spPr bwMode="auto">
              <a:xfrm>
                <a:off x="9659915" y="4146896"/>
                <a:ext cx="1266051" cy="109753"/>
              </a:xfrm>
              <a:prstGeom prst="rect">
                <a:avLst/>
              </a:prstGeom>
              <a:solidFill>
                <a:srgbClr val="0075BE"/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Rectangle 10"/>
            <p:cNvSpPr>
              <a:spLocks noChangeArrowheads="1"/>
            </p:cNvSpPr>
            <p:nvPr/>
          </p:nvSpPr>
          <p:spPr bwMode="auto">
            <a:xfrm>
              <a:off x="10925966" y="4146896"/>
              <a:ext cx="1264485" cy="109753"/>
            </a:xfrm>
            <a:prstGeom prst="rect">
              <a:avLst/>
            </a:prstGeom>
            <a:solidFill>
              <a:srgbClr val="ED6C0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/>
            <a:lstStyle/>
            <a:p>
              <a:endParaRPr lang="zh-CN" altLang="en-US" sz="24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7463" y="608675"/>
            <a:ext cx="3115326" cy="49991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0" y="4490250"/>
            <a:ext cx="1218723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 smtClean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软件</a:t>
            </a:r>
            <a:r>
              <a:rPr lang="en-US" altLang="zh-CN" sz="4000" dirty="0" smtClean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lang="zh-CN" altLang="en-US" sz="4000" dirty="0">
                <a:solidFill>
                  <a:prstClr val="white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验收内容介绍</a:t>
            </a:r>
          </a:p>
        </p:txBody>
      </p:sp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3426941" y="5689973"/>
            <a:ext cx="5328592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 fontAlgn="auto">
              <a:spcBef>
                <a:spcPts val="0"/>
              </a:spcBef>
              <a:spcAft>
                <a:spcPts val="0"/>
              </a:spcAft>
              <a:defRPr kumimoji="0" sz="2135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ts val="600"/>
              </a:spcBef>
            </a:pPr>
            <a:r>
              <a:rPr lang="en-US" altLang="zh-CN" sz="2800" dirty="0">
                <a:latin typeface="楷体" panose="02010609060101010101" pitchFamily="49" charset="-122"/>
                <a:ea typeface="楷体" panose="02010609060101010101" pitchFamily="49" charset="-122"/>
                <a:cs typeface="Heiti SC Light" charset="-122"/>
              </a:rPr>
              <a:t>2025.xx</a:t>
            </a:r>
            <a:endParaRPr lang="en-US" altLang="zh-CN" sz="2800" b="0" dirty="0">
              <a:latin typeface="楷体" panose="02010609060101010101" pitchFamily="49" charset="-122"/>
              <a:ea typeface="楷体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241897" y="1200269"/>
            <a:ext cx="489669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四</a:t>
            </a:r>
            <a:r>
              <a:rPr lang="zh-CN" altLang="en-US" sz="3200" b="1" dirty="0" smtClean="0"/>
              <a:t>、</a:t>
            </a:r>
            <a:r>
              <a:rPr lang="zh-CN" altLang="en-US" sz="3200" b="1" dirty="0" smtClean="0"/>
              <a:t>验收范围</a:t>
            </a:r>
            <a:r>
              <a:rPr lang="zh-CN" altLang="en-US" sz="3200" b="1" dirty="0" smtClean="0"/>
              <a:t>：</a:t>
            </a:r>
            <a:endParaRPr lang="en-US" altLang="zh-CN" sz="3200" b="1" dirty="0" smtClean="0"/>
          </a:p>
        </p:txBody>
      </p:sp>
      <p:sp>
        <p:nvSpPr>
          <p:cNvPr id="5" name="文本框 4"/>
          <p:cNvSpPr txBox="1"/>
          <p:nvPr/>
        </p:nvSpPr>
        <p:spPr>
          <a:xfrm>
            <a:off x="697049" y="128588"/>
            <a:ext cx="9757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zh-CN" altLang="en-US" sz="4000" b="1" dirty="0" smtClean="0"/>
              <a:t>软件验收</a:t>
            </a:r>
            <a:endParaRPr lang="en-US" altLang="zh-CN" sz="4000" b="1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533928"/>
              </p:ext>
            </p:extLst>
          </p:nvPr>
        </p:nvGraphicFramePr>
        <p:xfrm>
          <a:off x="6396712" y="2007960"/>
          <a:ext cx="4686042" cy="22705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700">
                  <a:extLst>
                    <a:ext uri="{9D8B030D-6E8A-4147-A177-3AD203B41FA5}">
                      <a16:colId xmlns:a16="http://schemas.microsoft.com/office/drawing/2014/main" val="1845294384"/>
                    </a:ext>
                  </a:extLst>
                </a:gridCol>
                <a:gridCol w="1670844">
                  <a:extLst>
                    <a:ext uri="{9D8B030D-6E8A-4147-A177-3AD203B41FA5}">
                      <a16:colId xmlns:a16="http://schemas.microsoft.com/office/drawing/2014/main" val="3320832158"/>
                    </a:ext>
                  </a:extLst>
                </a:gridCol>
                <a:gridCol w="1425980">
                  <a:extLst>
                    <a:ext uri="{9D8B030D-6E8A-4147-A177-3AD203B41FA5}">
                      <a16:colId xmlns:a16="http://schemas.microsoft.com/office/drawing/2014/main" val="2051512516"/>
                    </a:ext>
                  </a:extLst>
                </a:gridCol>
                <a:gridCol w="1195518">
                  <a:extLst>
                    <a:ext uri="{9D8B030D-6E8A-4147-A177-3AD203B41FA5}">
                      <a16:colId xmlns:a16="http://schemas.microsoft.com/office/drawing/2014/main" val="2981857943"/>
                    </a:ext>
                  </a:extLst>
                </a:gridCol>
              </a:tblGrid>
              <a:tr h="4080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No: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zh-CN" altLang="en-US" sz="1600" b="1" u="none" strike="noStrike" dirty="0">
                          <a:effectLst/>
                        </a:rPr>
                        <a:t>验收内容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1" u="none" strike="noStrike" dirty="0">
                          <a:effectLst/>
                        </a:rPr>
                        <a:t>范围</a:t>
                      </a:r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1068772"/>
                  </a:ext>
                </a:extLst>
              </a:tr>
              <a:tr h="4080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1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BSW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>
                          <a:effectLst/>
                        </a:rPr>
                        <a:t>五菱验收范围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400" u="none" strike="noStrike" dirty="0">
                          <a:effectLst/>
                        </a:rPr>
                        <a:t>全功能验收</a:t>
                      </a:r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90015120"/>
                  </a:ext>
                </a:extLst>
              </a:tr>
              <a:tr h="9431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2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Function</a:t>
                      </a:r>
                      <a:br>
                        <a:rPr lang="en-US" sz="1400" u="none" strike="noStrike" dirty="0">
                          <a:effectLst/>
                        </a:rPr>
                      </a:br>
                      <a:r>
                        <a:rPr lang="en-US" sz="1400" u="none" strike="noStrike" dirty="0">
                          <a:effectLst/>
                        </a:rPr>
                        <a:t>(</a:t>
                      </a:r>
                      <a:r>
                        <a:rPr lang="zh-CN" altLang="en-US" sz="1400" u="none" strike="noStrike" dirty="0">
                          <a:effectLst/>
                        </a:rPr>
                        <a:t>包含</a:t>
                      </a:r>
                      <a:r>
                        <a:rPr lang="en-US" sz="1400" u="none" strike="noStrike" dirty="0">
                          <a:effectLst/>
                        </a:rPr>
                        <a:t>ASW</a:t>
                      </a:r>
                      <a:r>
                        <a:rPr lang="en-US" sz="1400" u="none" strike="noStrike" dirty="0" smtClean="0">
                          <a:effectLst/>
                        </a:rPr>
                        <a:t>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607748"/>
                  </a:ext>
                </a:extLst>
              </a:tr>
              <a:tr h="5112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3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u="none" strike="noStrike" dirty="0">
                          <a:effectLst/>
                        </a:rPr>
                        <a:t>KPI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zh-CN" alt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9555671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7972" y="1200269"/>
            <a:ext cx="56439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 smtClean="0"/>
              <a:t>一、</a:t>
            </a:r>
            <a:r>
              <a:rPr lang="zh-CN" altLang="en-US" sz="3200" b="1" dirty="0" smtClean="0"/>
              <a:t>验收依据：</a:t>
            </a:r>
            <a:endParaRPr lang="en-US" altLang="zh-CN" sz="3200" b="1" dirty="0" smtClean="0"/>
          </a:p>
          <a:p>
            <a:pPr lvl="2"/>
            <a:r>
              <a:rPr lang="en-US" altLang="zh-CN" sz="2400" b="1" dirty="0" smtClean="0"/>
              <a:t>1.</a:t>
            </a:r>
            <a:r>
              <a:rPr lang="zh-CN" altLang="en-US" sz="2400" b="1" dirty="0" smtClean="0"/>
              <a:t>客户需求</a:t>
            </a:r>
            <a:endParaRPr lang="en-US" altLang="zh-CN" sz="2400" b="1" dirty="0" smtClean="0"/>
          </a:p>
          <a:p>
            <a:pPr lvl="2"/>
            <a:r>
              <a:rPr lang="en-US" altLang="zh-CN" sz="2400" b="1" dirty="0" smtClean="0"/>
              <a:t>2.</a:t>
            </a:r>
            <a:r>
              <a:rPr lang="zh-CN" altLang="en-US" sz="2400" b="1" dirty="0" smtClean="0"/>
              <a:t>已澄清偏差</a:t>
            </a:r>
            <a:r>
              <a:rPr lang="zh-CN" altLang="en-US" sz="2400" b="1" dirty="0" smtClean="0"/>
              <a:t>项</a:t>
            </a:r>
            <a:endParaRPr lang="en-US" altLang="zh-CN" sz="2400" b="1" dirty="0" smtClean="0"/>
          </a:p>
          <a:p>
            <a:pPr lvl="2"/>
            <a:r>
              <a:rPr lang="en-US" altLang="zh-CN" sz="2400" b="1" dirty="0" smtClean="0"/>
              <a:t>3.</a:t>
            </a:r>
            <a:r>
              <a:rPr lang="zh-CN" altLang="en-US" sz="2400" b="1" dirty="0" smtClean="0"/>
              <a:t>测试</a:t>
            </a:r>
            <a:r>
              <a:rPr lang="en-US" altLang="zh-CN" sz="2400" b="1" dirty="0" smtClean="0"/>
              <a:t>case</a:t>
            </a:r>
            <a:r>
              <a:rPr lang="zh-CN" altLang="en-US" sz="2400" b="1" dirty="0" smtClean="0"/>
              <a:t>的评审记录</a:t>
            </a:r>
            <a:endParaRPr lang="en-US" altLang="zh-CN" sz="2400" b="1" dirty="0" smtClean="0"/>
          </a:p>
          <a:p>
            <a:pPr lvl="2"/>
            <a:r>
              <a:rPr lang="en-US" altLang="zh-CN" sz="2400" b="1" dirty="0" smtClean="0"/>
              <a:t>4.</a:t>
            </a:r>
            <a:r>
              <a:rPr lang="zh-CN" altLang="en-US" sz="2400" b="1" dirty="0" smtClean="0"/>
              <a:t>软件释放计划表</a:t>
            </a:r>
            <a:endParaRPr lang="en-US" altLang="zh-CN" sz="2400" b="1" dirty="0" smtClean="0"/>
          </a:p>
          <a:p>
            <a:r>
              <a:rPr lang="zh-CN" altLang="en-US" sz="3200" b="1" dirty="0"/>
              <a:t>二</a:t>
            </a:r>
            <a:r>
              <a:rPr lang="zh-CN" altLang="en-US" sz="3200" b="1" dirty="0" smtClean="0"/>
              <a:t>、</a:t>
            </a:r>
            <a:r>
              <a:rPr lang="zh-CN" altLang="en-US" sz="3200" b="1" dirty="0" smtClean="0"/>
              <a:t>验收手段：</a:t>
            </a:r>
            <a:endParaRPr lang="en-US" altLang="zh-CN" sz="3200" b="1" dirty="0" smtClean="0"/>
          </a:p>
          <a:p>
            <a:pPr lvl="2"/>
            <a:r>
              <a:rPr lang="en-US" altLang="zh-CN" sz="2400" b="1" dirty="0" smtClean="0"/>
              <a:t>1.</a:t>
            </a:r>
            <a:r>
              <a:rPr lang="zh-CN" altLang="en-US" sz="2400" b="1" dirty="0" smtClean="0"/>
              <a:t>博世提供各模块测试用例及报告</a:t>
            </a:r>
            <a:endParaRPr lang="en-US" altLang="zh-CN" sz="2400" b="1" dirty="0" smtClean="0"/>
          </a:p>
          <a:p>
            <a:pPr lvl="2"/>
            <a:r>
              <a:rPr lang="en-US" altLang="zh-CN" sz="2400" b="1" dirty="0" smtClean="0"/>
              <a:t>2.</a:t>
            </a:r>
            <a:r>
              <a:rPr lang="zh-CN" altLang="en-US" sz="2400" b="1" dirty="0" smtClean="0"/>
              <a:t>内部团队各</a:t>
            </a:r>
            <a:r>
              <a:rPr lang="zh-CN" altLang="en-US" sz="2400" b="1" dirty="0"/>
              <a:t>模块测试用例及</a:t>
            </a:r>
            <a:r>
              <a:rPr lang="zh-CN" altLang="en-US" sz="2400" b="1" dirty="0" smtClean="0"/>
              <a:t>报告</a:t>
            </a:r>
            <a:endParaRPr lang="en-US" altLang="zh-CN" sz="2400" b="1" dirty="0" smtClean="0"/>
          </a:p>
          <a:p>
            <a:r>
              <a:rPr lang="zh-CN" altLang="en-US" sz="3200" b="1" dirty="0"/>
              <a:t>三</a:t>
            </a:r>
            <a:r>
              <a:rPr lang="zh-CN" altLang="en-US" sz="3200" b="1" dirty="0" smtClean="0"/>
              <a:t>、时间节点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？？</a:t>
            </a:r>
            <a:endParaRPr lang="zh-CN" altLang="en-US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060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一</a:t>
            </a:r>
            <a:r>
              <a:rPr lang="zh-CN" altLang="en-US" sz="3200" b="1" dirty="0" smtClean="0"/>
              <a:t>、</a:t>
            </a:r>
            <a:r>
              <a:rPr lang="zh-CN" altLang="en-US" sz="3200" b="1" dirty="0" smtClean="0"/>
              <a:t>验收</a:t>
            </a:r>
            <a:r>
              <a:rPr lang="zh-CN" altLang="en-US" sz="3200" b="1" dirty="0"/>
              <a:t>依据</a:t>
            </a:r>
            <a:endParaRPr lang="en-US" altLang="zh-CN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917074" y="1528472"/>
            <a:ext cx="554517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zh-CN" altLang="en-US" sz="2400" b="1" dirty="0" smtClean="0"/>
              <a:t>依据：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1</a:t>
            </a:r>
            <a:r>
              <a:rPr lang="en-US" altLang="zh-CN" sz="2400" b="1" dirty="0"/>
              <a:t>.</a:t>
            </a:r>
            <a:r>
              <a:rPr lang="zh-CN" altLang="en-US" sz="2400" b="1" dirty="0"/>
              <a:t>客户需求</a:t>
            </a:r>
            <a:endParaRPr lang="en-US" altLang="zh-CN" sz="2400" b="1" dirty="0"/>
          </a:p>
          <a:p>
            <a:r>
              <a:rPr lang="en-US" altLang="zh-CN" sz="2400" b="1" dirty="0"/>
              <a:t>2.</a:t>
            </a:r>
            <a:r>
              <a:rPr lang="zh-CN" altLang="en-US" sz="2400" b="1" dirty="0"/>
              <a:t>已澄清偏差</a:t>
            </a:r>
            <a:r>
              <a:rPr lang="zh-CN" altLang="en-US" sz="2400" b="1" dirty="0" smtClean="0"/>
              <a:t>项（内部提出</a:t>
            </a:r>
            <a:r>
              <a:rPr lang="en-US" altLang="zh-CN" sz="2400" b="1" dirty="0" smtClean="0"/>
              <a:t>+</a:t>
            </a:r>
            <a:r>
              <a:rPr lang="zh-CN" altLang="en-US" sz="2400" b="1" dirty="0" smtClean="0"/>
              <a:t>博世提出）</a:t>
            </a:r>
            <a:endParaRPr lang="en-US" altLang="zh-CN" sz="2400" b="1" dirty="0"/>
          </a:p>
          <a:p>
            <a:r>
              <a:rPr lang="en-US" altLang="zh-CN" sz="2400" b="1" dirty="0"/>
              <a:t>3.</a:t>
            </a:r>
            <a:r>
              <a:rPr lang="zh-CN" altLang="en-US" sz="2400" b="1" dirty="0"/>
              <a:t>测试</a:t>
            </a:r>
            <a:r>
              <a:rPr lang="en-US" altLang="zh-CN" sz="2400" b="1" dirty="0"/>
              <a:t>case</a:t>
            </a:r>
            <a:r>
              <a:rPr lang="zh-CN" altLang="en-US" sz="2400" b="1" dirty="0"/>
              <a:t>的评审记录</a:t>
            </a:r>
            <a:endParaRPr lang="en-US" altLang="zh-CN" sz="2400" b="1" dirty="0"/>
          </a:p>
          <a:p>
            <a:r>
              <a:rPr lang="en-US" altLang="zh-CN" sz="2400" b="1" dirty="0"/>
              <a:t>4.</a:t>
            </a:r>
            <a:r>
              <a:rPr lang="zh-CN" altLang="en-US" sz="2400" b="1" dirty="0"/>
              <a:t>软件释放计划表</a:t>
            </a:r>
            <a:endParaRPr lang="en-US" altLang="zh-CN" sz="24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462250" y="1528472"/>
            <a:ext cx="5222525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 smtClean="0"/>
              <a:t>1.</a:t>
            </a:r>
            <a:r>
              <a:rPr lang="zh-CN" altLang="en-US" sz="2400" b="1" dirty="0" smtClean="0"/>
              <a:t>相关需求</a:t>
            </a:r>
            <a:r>
              <a:rPr lang="zh-CN" altLang="en-US" sz="2400" b="1" dirty="0"/>
              <a:t>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r>
              <a:rPr lang="zh-CN" altLang="en-US" dirty="0" smtClean="0"/>
              <a:t>     已</a:t>
            </a:r>
            <a:r>
              <a:rPr lang="zh-CN" altLang="en-US" dirty="0" smtClean="0"/>
              <a:t>在第四项</a:t>
            </a:r>
            <a:r>
              <a:rPr lang="en-US" altLang="zh-CN" dirty="0" smtClean="0"/>
              <a:t>-</a:t>
            </a:r>
            <a:r>
              <a:rPr lang="zh-CN" altLang="en-US" dirty="0" smtClean="0"/>
              <a:t>验收范围中</a:t>
            </a:r>
            <a:r>
              <a:rPr lang="zh-CN" altLang="en-US" dirty="0" smtClean="0"/>
              <a:t>加了链接</a:t>
            </a:r>
            <a:endParaRPr lang="en-US" altLang="zh-CN" dirty="0" smtClean="0"/>
          </a:p>
          <a:p>
            <a:r>
              <a:rPr lang="en-US" altLang="zh-CN" sz="2400" b="1" dirty="0" smtClean="0"/>
              <a:t>2.</a:t>
            </a:r>
            <a:r>
              <a:rPr lang="zh-CN" altLang="en-US" sz="2400" b="1" dirty="0" smtClean="0"/>
              <a:t>偏差项：</a:t>
            </a:r>
            <a:endParaRPr lang="en-US" altLang="zh-CN" sz="2400" b="1" dirty="0" smtClean="0"/>
          </a:p>
          <a:p>
            <a:r>
              <a:rPr lang="en-US" altLang="zh-CN" sz="2000" dirty="0" smtClean="0">
                <a:hlinkClick r:id="rId3" action="ppaction://hlinkfile"/>
              </a:rPr>
              <a:t>..\</a:t>
            </a:r>
            <a:r>
              <a:rPr lang="zh-CN" altLang="en-US" sz="2000" dirty="0" smtClean="0">
                <a:hlinkClick r:id="rId3" action="ppaction://hlinkfile"/>
              </a:rPr>
              <a:t>客户需求</a:t>
            </a:r>
            <a:r>
              <a:rPr lang="en-US" altLang="zh-CN" sz="2000" dirty="0" smtClean="0">
                <a:hlinkClick r:id="rId3" action="ppaction://hlinkfile"/>
              </a:rPr>
              <a:t>\06_SGMW\CusRS_DeviationList_SGMW_F520MRF520SR.xlsx</a:t>
            </a:r>
            <a:endParaRPr lang="en-US" altLang="zh-CN" sz="2000" dirty="0" smtClean="0"/>
          </a:p>
          <a:p>
            <a:endParaRPr lang="en-US" altLang="zh-CN" sz="2000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9890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/>
              <a:t>二、</a:t>
            </a:r>
            <a:r>
              <a:rPr lang="zh-CN" altLang="en-US" sz="4000" b="1" dirty="0"/>
              <a:t>验收手段</a:t>
            </a:r>
            <a:r>
              <a:rPr lang="zh-CN" altLang="en-US" sz="4000" b="1" dirty="0" smtClean="0"/>
              <a:t>：</a:t>
            </a:r>
            <a:endParaRPr lang="en-US" altLang="zh-CN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97" y="1147694"/>
            <a:ext cx="51961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博世提供各模块测试用例及报告</a:t>
            </a:r>
            <a:endParaRPr lang="en-US" altLang="zh-CN" sz="2000" b="1" dirty="0"/>
          </a:p>
          <a:p>
            <a:r>
              <a:rPr lang="en-US" altLang="zh-CN" sz="2000" b="1" dirty="0"/>
              <a:t>2.</a:t>
            </a:r>
            <a:r>
              <a:rPr lang="zh-CN" altLang="en-US" sz="2000" b="1" dirty="0"/>
              <a:t>内部团队各模块测试用例及</a:t>
            </a:r>
            <a:r>
              <a:rPr lang="zh-CN" altLang="en-US" sz="2000" b="1" dirty="0" smtClean="0"/>
              <a:t>报告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643906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/>
              <a:t>三</a:t>
            </a:r>
            <a:r>
              <a:rPr lang="zh-CN" altLang="en-US" sz="4000" b="1" dirty="0" smtClean="0"/>
              <a:t>、时间节点：</a:t>
            </a:r>
            <a:endParaRPr lang="en-US" altLang="zh-CN" sz="3200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1091597" y="1147694"/>
            <a:ext cx="58499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 smtClean="0">
                <a:solidFill>
                  <a:srgbClr val="FF0000"/>
                </a:solidFill>
              </a:rPr>
              <a:t>这份任务的时间要求是什么 </a:t>
            </a:r>
            <a:r>
              <a:rPr lang="en-US" altLang="zh-CN" sz="2000" b="1" dirty="0" smtClean="0">
                <a:solidFill>
                  <a:srgbClr val="FF0000"/>
                </a:solidFill>
              </a:rPr>
              <a:t>?  </a:t>
            </a:r>
            <a:r>
              <a:rPr lang="zh-CN" altLang="en-US" sz="2000" b="1" dirty="0">
                <a:solidFill>
                  <a:srgbClr val="FF0000"/>
                </a:solidFill>
              </a:rPr>
              <a:t>下</a:t>
            </a:r>
            <a:r>
              <a:rPr lang="zh-CN" altLang="en-US" sz="2000" b="1" dirty="0" smtClean="0">
                <a:solidFill>
                  <a:srgbClr val="FF0000"/>
                </a:solidFill>
              </a:rPr>
              <a:t>周五（跟合同做差异性对比）  </a:t>
            </a:r>
            <a:endParaRPr lang="zh-CN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093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1480481" y="1013759"/>
            <a:ext cx="9757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1</a:t>
            </a:r>
            <a:r>
              <a:rPr lang="zh-CN" altLang="en-US" sz="3200" b="1" dirty="0" smtClean="0"/>
              <a:t>、</a:t>
            </a: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zh-CN" altLang="en-US" sz="3200" b="1" dirty="0" smtClean="0"/>
              <a:t>验收</a:t>
            </a:r>
            <a:r>
              <a:rPr lang="en-US" altLang="zh-CN" sz="3200" b="1" dirty="0" smtClean="0"/>
              <a:t>---</a:t>
            </a:r>
            <a:r>
              <a:rPr lang="zh-CN" altLang="en-US" sz="3200" b="1" dirty="0" smtClean="0">
                <a:solidFill>
                  <a:srgbClr val="FF0000"/>
                </a:solidFill>
              </a:rPr>
              <a:t>模块的验收以合同为准。</a:t>
            </a:r>
            <a:endParaRPr lang="en-US" altLang="zh-CN" sz="3200" b="1" dirty="0" smtClean="0">
              <a:solidFill>
                <a:srgbClr val="FF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7049" y="128588"/>
            <a:ext cx="88697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/>
              <a:t>四、验收</a:t>
            </a:r>
            <a:r>
              <a:rPr lang="zh-CN" altLang="en-US" sz="4000" b="1" dirty="0" smtClean="0"/>
              <a:t>范围</a:t>
            </a:r>
            <a:r>
              <a:rPr lang="zh-CN" altLang="en-US" sz="4000" b="1" dirty="0" smtClean="0"/>
              <a:t>之</a:t>
            </a:r>
            <a:r>
              <a:rPr lang="en-US" altLang="zh-CN" sz="4000" b="1" dirty="0" smtClean="0"/>
              <a:t>BSW </a:t>
            </a:r>
            <a:r>
              <a:rPr lang="zh-CN" altLang="en-US" sz="4000" b="1" dirty="0" smtClean="0"/>
              <a:t>模块</a:t>
            </a:r>
            <a:endParaRPr lang="en-US" altLang="zh-CN" sz="4000" b="1" dirty="0" smtClean="0"/>
          </a:p>
        </p:txBody>
      </p:sp>
      <p:sp>
        <p:nvSpPr>
          <p:cNvPr id="4" name="矩形 3"/>
          <p:cNvSpPr/>
          <p:nvPr/>
        </p:nvSpPr>
        <p:spPr>
          <a:xfrm>
            <a:off x="5856288" y="3244850"/>
            <a:ext cx="4794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</a:t>
            </a:r>
            <a:r>
              <a:rPr lang="zh-CN" altLang="en-US" dirty="0"/>
              <a:t> </a:t>
            </a:r>
          </a:p>
        </p:txBody>
      </p:sp>
      <p:sp>
        <p:nvSpPr>
          <p:cNvPr id="6" name="矩形 5"/>
          <p:cNvSpPr/>
          <p:nvPr/>
        </p:nvSpPr>
        <p:spPr>
          <a:xfrm>
            <a:off x="5856288" y="3244850"/>
            <a:ext cx="479425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　</a:t>
            </a:r>
            <a:r>
              <a:rPr lang="zh-CN" altLang="en-US" dirty="0"/>
              <a:t> 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098269"/>
              </p:ext>
            </p:extLst>
          </p:nvPr>
        </p:nvGraphicFramePr>
        <p:xfrm>
          <a:off x="2387920" y="1837199"/>
          <a:ext cx="6223505" cy="358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125">
                  <a:extLst>
                    <a:ext uri="{9D8B030D-6E8A-4147-A177-3AD203B41FA5}">
                      <a16:colId xmlns:a16="http://schemas.microsoft.com/office/drawing/2014/main" val="3109179334"/>
                    </a:ext>
                  </a:extLst>
                </a:gridCol>
                <a:gridCol w="3233987">
                  <a:extLst>
                    <a:ext uri="{9D8B030D-6E8A-4147-A177-3AD203B41FA5}">
                      <a16:colId xmlns:a16="http://schemas.microsoft.com/office/drawing/2014/main" val="2608544783"/>
                    </a:ext>
                  </a:extLst>
                </a:gridCol>
                <a:gridCol w="1415846">
                  <a:extLst>
                    <a:ext uri="{9D8B030D-6E8A-4147-A177-3AD203B41FA5}">
                      <a16:colId xmlns:a16="http://schemas.microsoft.com/office/drawing/2014/main" val="2322957116"/>
                    </a:ext>
                  </a:extLst>
                </a:gridCol>
                <a:gridCol w="1081547">
                  <a:extLst>
                    <a:ext uri="{9D8B030D-6E8A-4147-A177-3AD203B41FA5}">
                      <a16:colId xmlns:a16="http://schemas.microsoft.com/office/drawing/2014/main" val="1624904900"/>
                    </a:ext>
                  </a:extLst>
                </a:gridCol>
              </a:tblGrid>
              <a:tr h="20109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 smtClean="0">
                          <a:effectLst/>
                        </a:rPr>
                        <a:t>BSW</a:t>
                      </a:r>
                      <a:r>
                        <a:rPr lang="en-US" sz="2000" b="1" u="none" strike="noStrike" baseline="0" dirty="0" smtClean="0">
                          <a:effectLst/>
                        </a:rPr>
                        <a:t> </a:t>
                      </a:r>
                      <a:r>
                        <a:rPr lang="zh-CN" altLang="en-US" sz="2000" b="1" u="none" strike="noStrike" dirty="0" smtClean="0">
                          <a:effectLst/>
                        </a:rPr>
                        <a:t>验收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内容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0016148"/>
                  </a:ext>
                </a:extLst>
              </a:tr>
              <a:tr h="40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CAND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(CAN Diagnostic)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五菱验收范围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全功能验收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660121368"/>
                  </a:ext>
                </a:extLst>
              </a:tr>
              <a:tr h="40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CANC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(CAN Communication)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0107846"/>
                  </a:ext>
                </a:extLst>
              </a:tr>
              <a:tr h="40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FBL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(Flash </a:t>
                      </a:r>
                      <a:r>
                        <a:rPr lang="en-US" sz="1600" u="none" strike="noStrike" dirty="0" err="1">
                          <a:effectLst/>
                        </a:rPr>
                        <a:t>BootLoader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303337"/>
                  </a:ext>
                </a:extLst>
              </a:tr>
              <a:tr h="40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NM</a:t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(Network </a:t>
                      </a:r>
                      <a:r>
                        <a:rPr lang="en-US" sz="1600" u="none" strike="noStrike" dirty="0" err="1">
                          <a:effectLst/>
                        </a:rPr>
                        <a:t>Managment</a:t>
                      </a:r>
                      <a:r>
                        <a:rPr lang="en-US" sz="1600" u="none" strike="noStrike" dirty="0">
                          <a:effectLst/>
                        </a:rPr>
                        <a:t>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287076"/>
                  </a:ext>
                </a:extLst>
              </a:tr>
              <a:tr h="20109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</a:rPr>
                        <a:t>TimeSync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14212"/>
                  </a:ext>
                </a:extLst>
              </a:tr>
              <a:tr h="40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 err="1">
                          <a:effectLst/>
                        </a:rPr>
                        <a:t>CyberSecurity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en-US" sz="1600" u="none" strike="noStrike" dirty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</a:rPr>
                        <a:t>具体实现方法未知</a:t>
                      </a:r>
                      <a:r>
                        <a:rPr lang="en-US" altLang="zh-CN" sz="1600" u="none" strike="noStrike" dirty="0">
                          <a:effectLst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117164"/>
                  </a:ext>
                </a:extLst>
              </a:tr>
              <a:tr h="40218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 dirty="0" smtClean="0">
                          <a:effectLst/>
                        </a:rPr>
                        <a:t>EDR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（</a:t>
                      </a:r>
                      <a:r>
                        <a:rPr lang="zh-CN" altLang="en-US" sz="1600" u="none" strike="noStrike" dirty="0" smtClean="0">
                          <a:solidFill>
                            <a:srgbClr val="FF0000"/>
                          </a:solidFill>
                          <a:effectLst/>
                        </a:rPr>
                        <a:t>我们自己做的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）</a:t>
                      </a:r>
                      <a:r>
                        <a:rPr lang="en-US" altLang="zh-CN" sz="1600" u="none" strike="noStrike" dirty="0">
                          <a:effectLst/>
                        </a:rPr>
                        <a:t/>
                      </a:r>
                      <a:br>
                        <a:rPr lang="en-US" altLang="zh-CN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</a:rPr>
                        <a:t>此功能暂时不实现</a:t>
                      </a:r>
                      <a:r>
                        <a:rPr lang="en-US" altLang="zh-CN" sz="1600" u="none" strike="noStrike" dirty="0">
                          <a:effectLst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50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4059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1/7: CAND</a:t>
            </a:r>
            <a:endParaRPr lang="zh-CN" altLang="en-US" sz="3200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6069716"/>
              </p:ext>
            </p:extLst>
          </p:nvPr>
        </p:nvGraphicFramePr>
        <p:xfrm>
          <a:off x="2230603" y="842946"/>
          <a:ext cx="7123820" cy="51790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93172">
                  <a:extLst>
                    <a:ext uri="{9D8B030D-6E8A-4147-A177-3AD203B41FA5}">
                      <a16:colId xmlns:a16="http://schemas.microsoft.com/office/drawing/2014/main" val="2478084967"/>
                    </a:ext>
                  </a:extLst>
                </a:gridCol>
                <a:gridCol w="962131">
                  <a:extLst>
                    <a:ext uri="{9D8B030D-6E8A-4147-A177-3AD203B41FA5}">
                      <a16:colId xmlns:a16="http://schemas.microsoft.com/office/drawing/2014/main" val="2208932998"/>
                    </a:ext>
                  </a:extLst>
                </a:gridCol>
                <a:gridCol w="393172">
                  <a:extLst>
                    <a:ext uri="{9D8B030D-6E8A-4147-A177-3AD203B41FA5}">
                      <a16:colId xmlns:a16="http://schemas.microsoft.com/office/drawing/2014/main" val="869330261"/>
                    </a:ext>
                  </a:extLst>
                </a:gridCol>
                <a:gridCol w="3408894">
                  <a:extLst>
                    <a:ext uri="{9D8B030D-6E8A-4147-A177-3AD203B41FA5}">
                      <a16:colId xmlns:a16="http://schemas.microsoft.com/office/drawing/2014/main" val="544247886"/>
                    </a:ext>
                  </a:extLst>
                </a:gridCol>
                <a:gridCol w="1111045">
                  <a:extLst>
                    <a:ext uri="{9D8B030D-6E8A-4147-A177-3AD203B41FA5}">
                      <a16:colId xmlns:a16="http://schemas.microsoft.com/office/drawing/2014/main" val="3477132782"/>
                    </a:ext>
                  </a:extLst>
                </a:gridCol>
                <a:gridCol w="855406">
                  <a:extLst>
                    <a:ext uri="{9D8B030D-6E8A-4147-A177-3AD203B41FA5}">
                      <a16:colId xmlns:a16="http://schemas.microsoft.com/office/drawing/2014/main" val="2419901252"/>
                    </a:ext>
                  </a:extLst>
                </a:gridCol>
              </a:tblGrid>
              <a:tr h="292153"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 smtClean="0">
                          <a:effectLst/>
                        </a:rPr>
                        <a:t>BSW</a:t>
                      </a:r>
                      <a:r>
                        <a:rPr lang="en-US" sz="2000" b="1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2000" b="1" u="none" strike="noStrike" dirty="0" smtClean="0">
                          <a:effectLst/>
                        </a:rPr>
                        <a:t>—1/7</a:t>
                      </a:r>
                      <a:r>
                        <a:rPr lang="en-US" sz="2000" b="1" u="none" strike="noStrike" baseline="0" dirty="0" smtClean="0">
                          <a:effectLst/>
                        </a:rPr>
                        <a:t> </a:t>
                      </a:r>
                      <a:r>
                        <a:rPr lang="en-US" sz="2000" b="1" u="none" strike="noStrike" dirty="0" smtClean="0">
                          <a:effectLst/>
                        </a:rPr>
                        <a:t>CAND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测试项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860541"/>
                  </a:ext>
                </a:extLst>
              </a:tr>
              <a:tr h="29215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 dirty="0">
                          <a:effectLst/>
                        </a:rPr>
                        <a:t>No: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effectLst/>
                        </a:rPr>
                        <a:t>No: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b"/>
                </a:tc>
                <a:extLst>
                  <a:ext uri="{0D108BD9-81ED-4DB2-BD59-A6C34878D82A}">
                    <a16:rowId xmlns:a16="http://schemas.microsoft.com/office/drawing/2014/main" val="319413615"/>
                  </a:ext>
                </a:extLst>
              </a:tr>
              <a:tr h="337130"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1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rowSpan="9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通用诊断要求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1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支持的诊断帧格式（</a:t>
                      </a:r>
                      <a:r>
                        <a:rPr lang="en-US" sz="1100" u="none" strike="noStrike" dirty="0">
                          <a:effectLst/>
                        </a:rPr>
                        <a:t>CAN/CANFD）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rowSpan="15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五菱验收范围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rowSpan="14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全功能验收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extLst>
                  <a:ext uri="{0D108BD9-81ED-4DB2-BD59-A6C34878D82A}">
                    <a16:rowId xmlns:a16="http://schemas.microsoft.com/office/drawing/2014/main" val="321486390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2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标识符（</a:t>
                      </a:r>
                      <a:r>
                        <a:rPr lang="en-US" sz="1100" u="none" strike="noStrike" dirty="0">
                          <a:effectLst/>
                        </a:rPr>
                        <a:t>CAN Identifier）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753230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3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DLC</a:t>
                      </a:r>
                      <a:r>
                        <a:rPr lang="zh-CN" altLang="en-US" sz="1100" u="none" strike="noStrike" dirty="0">
                          <a:effectLst/>
                        </a:rPr>
                        <a:t>策略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6793866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4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网络层支持最大字节数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9193098"/>
                  </a:ext>
                </a:extLst>
              </a:tr>
              <a:tr h="33713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5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诊断请求</a:t>
                      </a:r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r>
                        <a:rPr lang="zh-CN" altLang="en-US" sz="1100" u="none" strike="noStrike" dirty="0">
                          <a:effectLst/>
                        </a:rPr>
                        <a:t>响应的物理寻址和功能寻址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3356811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6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诊断帧格式：填充位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347005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7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流控帧</a:t>
                      </a:r>
                      <a:r>
                        <a:rPr lang="en-US" altLang="zh-CN" sz="1100" u="none" strike="noStrike" dirty="0">
                          <a:effectLst/>
                        </a:rPr>
                        <a:t>(</a:t>
                      </a:r>
                      <a:r>
                        <a:rPr lang="en-US" sz="1100" u="none" strike="noStrike" dirty="0">
                          <a:effectLst/>
                        </a:rPr>
                        <a:t>FC / BS / </a:t>
                      </a:r>
                      <a:r>
                        <a:rPr lang="en-US" sz="1100" u="none" strike="noStrike" dirty="0" err="1">
                          <a:effectLst/>
                        </a:rPr>
                        <a:t>STmin</a:t>
                      </a:r>
                      <a:r>
                        <a:rPr lang="en-US" sz="1100" u="none" strike="noStrike" dirty="0">
                          <a:effectLst/>
                        </a:rPr>
                        <a:t>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209169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8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时间参数（网络层</a:t>
                      </a:r>
                      <a:r>
                        <a:rPr lang="en-US" altLang="zh-CN" sz="1100" u="none" strike="noStrike" dirty="0">
                          <a:effectLst/>
                        </a:rPr>
                        <a:t>/</a:t>
                      </a:r>
                      <a:r>
                        <a:rPr lang="zh-CN" altLang="en-US" sz="1100" u="none" strike="noStrike" dirty="0">
                          <a:effectLst/>
                        </a:rPr>
                        <a:t>会话层）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1554457"/>
                  </a:ext>
                </a:extLst>
              </a:tr>
              <a:tr h="50486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9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通信设计</a:t>
                      </a:r>
                      <a:br>
                        <a:rPr lang="zh-CN" altLang="en-US" sz="1100" u="none" strike="noStrike" dirty="0">
                          <a:effectLst/>
                        </a:rPr>
                      </a:br>
                      <a:r>
                        <a:rPr lang="zh-CN" altLang="en-US" sz="1100" u="none" strike="noStrike" dirty="0">
                          <a:effectLst/>
                        </a:rPr>
                        <a:t>即：半双工的通信模式下，不同帧类型的网络层行为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951044"/>
                  </a:ext>
                </a:extLst>
              </a:tr>
              <a:tr h="23486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2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诊断服务</a:t>
                      </a:r>
                      <a:br>
                        <a:rPr lang="zh-CN" altLang="en-US" sz="1100" u="none" strike="noStrike">
                          <a:effectLst/>
                        </a:rPr>
                      </a:br>
                      <a:r>
                        <a:rPr lang="en-US" altLang="zh-CN" sz="1100" u="none" strike="noStrike">
                          <a:effectLst/>
                        </a:rPr>
                        <a:t>(</a:t>
                      </a:r>
                      <a:r>
                        <a:rPr lang="en-US" sz="1100" u="none" strike="noStrike">
                          <a:effectLst/>
                        </a:rPr>
                        <a:t>APP/BOOT)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1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各</a:t>
                      </a:r>
                      <a:r>
                        <a:rPr lang="en-US" altLang="zh-CN" sz="1100" u="none" strike="noStrike" dirty="0">
                          <a:effectLst/>
                        </a:rPr>
                        <a:t>SID</a:t>
                      </a:r>
                      <a:r>
                        <a:rPr lang="zh-CN" altLang="en-US" sz="1100" u="none" strike="noStrike" dirty="0">
                          <a:effectLst/>
                        </a:rPr>
                        <a:t>肯定响应和否定响应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221465"/>
                  </a:ext>
                </a:extLst>
              </a:tr>
              <a:tr h="552304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2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 smtClean="0">
                          <a:effectLst/>
                        </a:rPr>
                        <a:t>各个</a:t>
                      </a:r>
                      <a:r>
                        <a:rPr lang="zh-CN" altLang="en-US" sz="1100" u="none" strike="noStrike" dirty="0">
                          <a:effectLst/>
                        </a:rPr>
                        <a:t>服务本身的</a:t>
                      </a:r>
                      <a:r>
                        <a:rPr lang="zh-CN" altLang="en-US" sz="1100" u="none" strike="noStrike" dirty="0" smtClean="0">
                          <a:effectLst/>
                        </a:rPr>
                        <a:t>功能</a:t>
                      </a:r>
                      <a:r>
                        <a:rPr lang="zh-CN" altLang="en-US" sz="1100" u="none" strike="noStrike" dirty="0">
                          <a:effectLst/>
                        </a:rPr>
                        <a:t/>
                      </a:r>
                      <a:br>
                        <a:rPr lang="zh-CN" altLang="en-US" sz="1100" u="none" strike="noStrike" dirty="0">
                          <a:effectLst/>
                        </a:rPr>
                      </a:br>
                      <a:r>
                        <a:rPr lang="zh-CN" altLang="en-US" sz="1100" u="none" strike="noStrike" dirty="0">
                          <a:effectLst/>
                        </a:rPr>
                        <a:t>如：</a:t>
                      </a:r>
                      <a:r>
                        <a:rPr lang="en-US" altLang="zh-CN" sz="1100" u="none" strike="noStrike" dirty="0">
                          <a:effectLst/>
                        </a:rPr>
                        <a:t>28</a:t>
                      </a:r>
                      <a:r>
                        <a:rPr lang="zh-CN" altLang="en-US" sz="1100" u="none" strike="noStrike" dirty="0">
                          <a:effectLst/>
                        </a:rPr>
                        <a:t>服务是否能够成功控制</a:t>
                      </a:r>
                      <a:r>
                        <a:rPr lang="zh-CN" altLang="en-US" sz="1100" u="none" strike="noStrike" dirty="0" smtClean="0">
                          <a:effectLst/>
                        </a:rPr>
                        <a:t>通信</a:t>
                      </a:r>
                      <a:endParaRPr lang="en-US" altLang="zh-CN" sz="1100" u="none" strike="noStrike" dirty="0" smtClean="0">
                        <a:effectLst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026823"/>
                  </a:ext>
                </a:extLst>
              </a:tr>
              <a:tr h="462116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3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100" u="none" strike="noStrike" dirty="0">
                          <a:effectLst/>
                        </a:rPr>
                        <a:t>功能层级（在其他功能模块里测试）</a:t>
                      </a:r>
                      <a:br>
                        <a:rPr lang="zh-CN" altLang="en-US" sz="1100" u="none" strike="noStrike" dirty="0">
                          <a:effectLst/>
                        </a:rPr>
                      </a:br>
                      <a:r>
                        <a:rPr lang="zh-CN" altLang="en-US" sz="1100" u="none" strike="noStrike" dirty="0">
                          <a:effectLst/>
                        </a:rPr>
                        <a:t>如：标定功能使用到的</a:t>
                      </a:r>
                      <a:r>
                        <a:rPr lang="en-US" altLang="zh-CN" sz="1100" u="none" strike="noStrike" dirty="0">
                          <a:effectLst/>
                        </a:rPr>
                        <a:t>RID</a:t>
                      </a:r>
                      <a:r>
                        <a:rPr lang="zh-CN" altLang="en-US" sz="1100" u="none" strike="noStrike" dirty="0">
                          <a:effectLst/>
                        </a:rPr>
                        <a:t>，会在标定</a:t>
                      </a:r>
                      <a:r>
                        <a:rPr lang="zh-CN" altLang="en-US" sz="1100" u="none" strike="noStrike" dirty="0" smtClean="0">
                          <a:effectLst/>
                        </a:rPr>
                        <a:t>模块进行测试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442194"/>
                  </a:ext>
                </a:extLst>
              </a:tr>
              <a:tr h="2348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3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 dirty="0">
                          <a:effectLst/>
                        </a:rPr>
                        <a:t>模块特性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1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u="none" strike="noStrike" dirty="0">
                          <a:effectLst/>
                        </a:rPr>
                        <a:t>DTC</a:t>
                      </a:r>
                      <a:r>
                        <a:rPr lang="zh-CN" altLang="en-US" sz="1100" u="none" strike="noStrike" dirty="0">
                          <a:effectLst/>
                        </a:rPr>
                        <a:t>存储数量与溢出机制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5807453"/>
                  </a:ext>
                </a:extLst>
              </a:tr>
              <a:tr h="234867"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Fault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与 </a:t>
                      </a:r>
                      <a:r>
                        <a:rPr lang="en-US" altLang="zh-CN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DTC mapping </a:t>
                      </a:r>
                      <a:r>
                        <a:rPr lang="zh-CN" altLang="en-US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及降级表现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extLst>
                  <a:ext uri="{0D108BD9-81ED-4DB2-BD59-A6C34878D82A}">
                    <a16:rowId xmlns:a16="http://schemas.microsoft.com/office/drawing/2014/main" val="275862834"/>
                  </a:ext>
                </a:extLst>
              </a:tr>
              <a:tr h="2348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b="1" u="none" strike="noStrike" dirty="0">
                          <a:effectLst/>
                        </a:rPr>
                        <a:t>4</a:t>
                      </a:r>
                      <a:endParaRPr lang="en-US" altLang="zh-CN" sz="16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u="none" strike="noStrike">
                          <a:effectLst/>
                        </a:rPr>
                        <a:t>客户独有</a:t>
                      </a:r>
                      <a:endParaRPr lang="zh-CN" altLang="en-US" sz="11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u="none" strike="noStrike" dirty="0">
                          <a:effectLst/>
                        </a:rPr>
                        <a:t>1</a:t>
                      </a:r>
                      <a:endParaRPr lang="en-US" altLang="zh-CN" sz="11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u="none" strike="noStrike" dirty="0">
                          <a:effectLst/>
                        </a:rPr>
                        <a:t>NRC78</a:t>
                      </a:r>
                      <a:r>
                        <a:rPr lang="zh-CN" altLang="en-US" sz="1100" u="none" strike="noStrike" dirty="0" smtClean="0">
                          <a:effectLst/>
                        </a:rPr>
                        <a:t>数量（</a:t>
                      </a:r>
                      <a:r>
                        <a:rPr lang="en-US" altLang="zh-CN" sz="1100" u="none" strike="noStrike" dirty="0" smtClean="0">
                          <a:effectLst/>
                        </a:rPr>
                        <a:t>3</a:t>
                      </a:r>
                      <a:r>
                        <a:rPr lang="zh-CN" altLang="en-US" sz="1100" u="none" strike="noStrike" dirty="0" smtClean="0">
                          <a:effectLst/>
                        </a:rPr>
                        <a:t>次）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086" marR="6086" marT="6086" marB="0" anchor="b"/>
                </a:tc>
                <a:extLst>
                  <a:ext uri="{0D108BD9-81ED-4DB2-BD59-A6C34878D82A}">
                    <a16:rowId xmlns:a16="http://schemas.microsoft.com/office/drawing/2014/main" val="3014485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307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1/7: CAND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73727" y="1133241"/>
            <a:ext cx="982712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相关需求</a:t>
            </a:r>
            <a:r>
              <a:rPr lang="zh-CN" altLang="en-US" sz="2400" b="1" dirty="0"/>
              <a:t>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1.</a:t>
            </a:r>
            <a:r>
              <a:rPr lang="zh-CN" altLang="en-US" dirty="0" smtClean="0"/>
              <a:t>诊断调查表（含新更新的</a:t>
            </a:r>
            <a:r>
              <a:rPr lang="en-US" altLang="zh-CN" dirty="0" smtClean="0"/>
              <a:t>DTC</a:t>
            </a:r>
            <a:r>
              <a:rPr lang="zh-CN" altLang="en-US" dirty="0" smtClean="0"/>
              <a:t>优先级）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B050"/>
                </a:solidFill>
              </a:rPr>
              <a:t>密码：</a:t>
            </a:r>
            <a:r>
              <a:rPr lang="en-US" altLang="zh-CN" dirty="0">
                <a:solidFill>
                  <a:srgbClr val="00B050"/>
                </a:solidFill>
              </a:rPr>
              <a:t> wlzd506#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 smtClean="0">
                <a:hlinkClick r:id="rId3" action="ppaction://hlinkfile"/>
              </a:rPr>
              <a:t>..\</a:t>
            </a:r>
            <a:r>
              <a:rPr lang="zh-CN" altLang="en-US" dirty="0" smtClean="0">
                <a:hlinkClick r:id="rId3" action="ppaction://hlinkfile"/>
              </a:rPr>
              <a:t>客户需求</a:t>
            </a:r>
            <a:r>
              <a:rPr lang="en-US" altLang="zh-CN" dirty="0" smtClean="0">
                <a:hlinkClick r:id="rId3" action="ppaction://hlinkfile"/>
              </a:rPr>
              <a:t>\06_SGMW\01_Requirement_Engineering\02-DIA\【C3】F520MR Diagnostic Questionnaire For CRS V1.1_20250618</a:t>
            </a:r>
            <a:r>
              <a:rPr lang="zh-CN" altLang="en-US" dirty="0" smtClean="0">
                <a:hlinkClick r:id="rId3" action="ppaction://hlinkfile"/>
              </a:rPr>
              <a:t>更新</a:t>
            </a:r>
            <a:r>
              <a:rPr lang="en-US" altLang="zh-CN" dirty="0" smtClean="0">
                <a:hlinkClick r:id="rId3" action="ppaction://hlinkfile"/>
              </a:rPr>
              <a:t>.</a:t>
            </a:r>
            <a:r>
              <a:rPr lang="en-US" altLang="zh-CN" dirty="0" err="1" smtClean="0">
                <a:hlinkClick r:id="rId3" action="ppaction://hlinkfile"/>
              </a:rPr>
              <a:t>xlsx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2.Fault</a:t>
            </a:r>
            <a:r>
              <a:rPr lang="zh-CN" altLang="en-US" dirty="0" smtClean="0"/>
              <a:t>表</a:t>
            </a:r>
            <a:endParaRPr lang="en-US" altLang="zh-CN" dirty="0" smtClean="0"/>
          </a:p>
          <a:p>
            <a:r>
              <a:rPr lang="en-US" altLang="zh-CN" dirty="0" smtClean="0">
                <a:hlinkClick r:id="rId4" action="ppaction://hlinkfile"/>
              </a:rPr>
              <a:t>..\</a:t>
            </a:r>
            <a:r>
              <a:rPr lang="zh-CN" altLang="en-US" dirty="0" smtClean="0">
                <a:hlinkClick r:id="rId4" action="ppaction://hlinkfile"/>
              </a:rPr>
              <a:t>客户需求</a:t>
            </a:r>
            <a:r>
              <a:rPr lang="en-US" altLang="zh-CN" dirty="0" smtClean="0">
                <a:hlinkClick r:id="rId4" action="ppaction://hlinkfile"/>
              </a:rPr>
              <a:t>\06_SGMW\01_Requirement_Engineering\CR60_Light_HWDegradation_v2.xlsx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3.</a:t>
            </a:r>
            <a:r>
              <a:rPr lang="zh-CN" altLang="en-US" dirty="0" smtClean="0"/>
              <a:t> 客户需求</a:t>
            </a:r>
            <a:endParaRPr lang="en-US" altLang="zh-CN" dirty="0" smtClean="0"/>
          </a:p>
          <a:p>
            <a:r>
              <a:rPr lang="en-US" altLang="zh-CN" dirty="0" smtClean="0">
                <a:hlinkClick r:id="rId5" action="ppaction://hlinkfile"/>
              </a:rPr>
              <a:t>..\</a:t>
            </a:r>
            <a:r>
              <a:rPr lang="zh-CN" altLang="en-US" dirty="0" smtClean="0">
                <a:hlinkClick r:id="rId5" action="ppaction://hlinkfile"/>
              </a:rPr>
              <a:t>客户需求</a:t>
            </a:r>
            <a:r>
              <a:rPr lang="en-US" altLang="zh-CN" dirty="0" smtClean="0">
                <a:hlinkClick r:id="rId5" action="ppaction://hlinkfile"/>
              </a:rPr>
              <a:t>\06_SGMW\01_Requirement_Engineering\00-General\SGMW General Diagnostic Requirement Specification V2.5.pdf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4.</a:t>
            </a:r>
            <a:r>
              <a:rPr lang="zh-CN" altLang="en-US" dirty="0" smtClean="0"/>
              <a:t>客户提出的测试指导</a:t>
            </a:r>
            <a:endParaRPr lang="en-US" altLang="zh-CN" dirty="0" smtClean="0"/>
          </a:p>
          <a:p>
            <a:r>
              <a:rPr lang="en-US" altLang="zh-CN" dirty="0" smtClean="0">
                <a:hlinkClick r:id="rId6" action="ppaction://hlinkfile"/>
              </a:rPr>
              <a:t>..\</a:t>
            </a:r>
            <a:r>
              <a:rPr lang="zh-CN" altLang="en-US" dirty="0" smtClean="0">
                <a:hlinkClick r:id="rId6" action="ppaction://hlinkfile"/>
              </a:rPr>
              <a:t>客户需求</a:t>
            </a:r>
            <a:r>
              <a:rPr lang="en-US" altLang="zh-CN" dirty="0" smtClean="0">
                <a:hlinkClick r:id="rId6" action="ppaction://hlinkfile"/>
              </a:rPr>
              <a:t>\06_SGMW\01_Requirement_Engineering\02-DIA\SGMW</a:t>
            </a:r>
            <a:r>
              <a:rPr lang="zh-CN" altLang="en-US" dirty="0" smtClean="0">
                <a:hlinkClick r:id="rId6" action="ppaction://hlinkfile"/>
              </a:rPr>
              <a:t>统一诊断测试规范</a:t>
            </a:r>
            <a:r>
              <a:rPr lang="en-US" altLang="zh-CN" dirty="0" smtClean="0">
                <a:hlinkClick r:id="rId6" action="ppaction://hlinkfile"/>
              </a:rPr>
              <a:t>V1.6.pdf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65874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956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2/7: CANC</a:t>
            </a:r>
            <a:endParaRPr lang="zh-CN" altLang="en-US" sz="3200" b="1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515986"/>
              </p:ext>
            </p:extLst>
          </p:nvPr>
        </p:nvGraphicFramePr>
        <p:xfrm>
          <a:off x="983225" y="1504336"/>
          <a:ext cx="9914285" cy="35455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125">
                  <a:extLst>
                    <a:ext uri="{9D8B030D-6E8A-4147-A177-3AD203B41FA5}">
                      <a16:colId xmlns:a16="http://schemas.microsoft.com/office/drawing/2014/main" val="1083202194"/>
                    </a:ext>
                  </a:extLst>
                </a:gridCol>
                <a:gridCol w="6980392">
                  <a:extLst>
                    <a:ext uri="{9D8B030D-6E8A-4147-A177-3AD203B41FA5}">
                      <a16:colId xmlns:a16="http://schemas.microsoft.com/office/drawing/2014/main" val="2950343777"/>
                    </a:ext>
                  </a:extLst>
                </a:gridCol>
                <a:gridCol w="1288026">
                  <a:extLst>
                    <a:ext uri="{9D8B030D-6E8A-4147-A177-3AD203B41FA5}">
                      <a16:colId xmlns:a16="http://schemas.microsoft.com/office/drawing/2014/main" val="1797449850"/>
                    </a:ext>
                  </a:extLst>
                </a:gridCol>
                <a:gridCol w="1153742">
                  <a:extLst>
                    <a:ext uri="{9D8B030D-6E8A-4147-A177-3AD203B41FA5}">
                      <a16:colId xmlns:a16="http://schemas.microsoft.com/office/drawing/2014/main" val="709384978"/>
                    </a:ext>
                  </a:extLst>
                </a:gridCol>
              </a:tblGrid>
              <a:tr h="26476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 smtClean="0">
                          <a:effectLst/>
                        </a:rPr>
                        <a:t>BSW-</a:t>
                      </a:r>
                      <a:r>
                        <a:rPr lang="en-US" sz="2000" b="1" u="none" strike="noStrike" dirty="0">
                          <a:effectLst/>
                        </a:rPr>
                        <a:t>-2/7 CANC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测试项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5112826"/>
                  </a:ext>
                </a:extLst>
              </a:tr>
              <a:tr h="5295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>
                          <a:effectLst/>
                        </a:rPr>
                        <a:t>MSG</a:t>
                      </a:r>
                      <a:r>
                        <a:rPr lang="zh-CN" altLang="en-US" sz="1600" u="none" strike="noStrike" dirty="0">
                          <a:effectLst/>
                        </a:rPr>
                        <a:t>属性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如：不同负载下的周期</a:t>
                      </a:r>
                      <a:r>
                        <a:rPr lang="en-US" altLang="zh-CN" sz="1600" u="none" strike="noStrike" dirty="0">
                          <a:effectLst/>
                        </a:rPr>
                        <a:t>/DLC/</a:t>
                      </a:r>
                      <a:r>
                        <a:rPr lang="zh-CN" altLang="en-US" sz="1600" u="none" strike="noStrike" dirty="0">
                          <a:effectLst/>
                        </a:rPr>
                        <a:t>数量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未使用位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填充</a:t>
                      </a:r>
                      <a:r>
                        <a:rPr lang="zh-CN" altLang="en-US" sz="1600" u="none" strike="noStrike" dirty="0">
                          <a:effectLst/>
                        </a:rPr>
                        <a:t>位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初始值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无效值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五菱验收范围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33854589"/>
                  </a:ext>
                </a:extLst>
              </a:tr>
              <a:tr h="5295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上电现象：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</a:t>
                      </a:r>
                      <a:r>
                        <a:rPr lang="en-US" sz="1600" u="none" strike="noStrike" dirty="0" smtClean="0">
                          <a:effectLst/>
                        </a:rPr>
                        <a:t>T_ACK/T_NM/</a:t>
                      </a:r>
                      <a:r>
                        <a:rPr lang="en-US" sz="1600" u="none" strike="noStrike" dirty="0" err="1" smtClean="0">
                          <a:effectLst/>
                        </a:rPr>
                        <a:t>T_F</a:t>
                      </a:r>
                      <a:r>
                        <a:rPr lang="en-US" altLang="zh-CN" sz="1600" u="none" strike="noStrike" dirty="0" err="1" smtClean="0">
                          <a:effectLst/>
                        </a:rPr>
                        <a:t>irst</a:t>
                      </a:r>
                      <a:r>
                        <a:rPr lang="en-US" sz="1600" u="none" strike="noStrike" dirty="0" err="1" smtClean="0">
                          <a:effectLst/>
                        </a:rPr>
                        <a:t>APP</a:t>
                      </a:r>
                      <a:r>
                        <a:rPr lang="en-US" altLang="zh-CN" sz="1600" u="none" strike="noStrike" dirty="0" err="1" smtClean="0">
                          <a:effectLst/>
                        </a:rPr>
                        <a:t>Msg</a:t>
                      </a:r>
                      <a:r>
                        <a:rPr lang="en-US" sz="1600" u="none" strike="noStrike" dirty="0" smtClean="0">
                          <a:effectLst/>
                        </a:rPr>
                        <a:t>/</a:t>
                      </a:r>
                      <a:r>
                        <a:rPr lang="en-US" sz="1600" u="none" strike="noStrike" dirty="0" err="1" smtClean="0">
                          <a:effectLst/>
                        </a:rPr>
                        <a:t>T_allCycleMsg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9145421"/>
                  </a:ext>
                </a:extLst>
              </a:tr>
              <a:tr h="2647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电压对通信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诊断的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影响</a:t>
                      </a:r>
                      <a:endParaRPr lang="en-US" altLang="zh-CN" sz="1600" u="none" strike="noStrike" dirty="0" smtClean="0">
                        <a:effectLst/>
                      </a:endParaRPr>
                    </a:p>
                    <a:p>
                      <a:pPr algn="l" fontAlgn="b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如：从欠压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高压到正常电压过度时，多久恢复通信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诊断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4186476"/>
                  </a:ext>
                </a:extLst>
              </a:tr>
              <a:tr h="5295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busoff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如：快慢恢复周期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快恢复次数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378235"/>
                  </a:ext>
                </a:extLst>
              </a:tr>
              <a:tr h="52952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采样点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 smtClean="0">
                          <a:effectLst/>
                        </a:rPr>
                        <a:t>如：数据</a:t>
                      </a:r>
                      <a:r>
                        <a:rPr lang="zh-CN" altLang="en-US" sz="1600" u="none" strike="noStrike" dirty="0">
                          <a:effectLst/>
                        </a:rPr>
                        <a:t>域、仲裁域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24706"/>
                  </a:ext>
                </a:extLst>
              </a:tr>
              <a:tr h="2647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 smtClean="0">
                          <a:effectLst/>
                        </a:rPr>
                        <a:t>E2E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算法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066626"/>
                  </a:ext>
                </a:extLst>
              </a:tr>
              <a:tr h="26476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u="none" strike="noStrike" dirty="0" smtClean="0">
                          <a:effectLst/>
                        </a:rPr>
                        <a:t>物理层（硬件测试，暂不关注）</a:t>
                      </a:r>
                      <a:endParaRPr lang="zh-CN" altLang="en-US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87960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6268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9561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2/7: CANC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73728" y="1111044"/>
            <a:ext cx="1051538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二、相关需求文档：</a:t>
            </a:r>
            <a:endParaRPr lang="en-US" altLang="zh-CN" sz="2400" b="1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1.</a:t>
            </a:r>
            <a:r>
              <a:rPr lang="zh-CN" altLang="en-US" dirty="0" smtClean="0"/>
              <a:t>物理层需求</a:t>
            </a:r>
            <a:endParaRPr lang="en-US" altLang="zh-CN" dirty="0" smtClean="0"/>
          </a:p>
          <a:p>
            <a:r>
              <a:rPr lang="en-US" altLang="zh-CN" dirty="0" smtClean="0">
                <a:hlinkClick r:id="rId3" action="ppaction://hlinkfile"/>
              </a:rPr>
              <a:t>\</a:t>
            </a:r>
            <a:r>
              <a:rPr lang="en-US" altLang="zh-CN" dirty="0" smtClean="0">
                <a:hlinkClick r:id="rId3" action="ppaction://hlinkfile"/>
              </a:rPr>
              <a:t>BT-SGMWJ 0858-2023</a:t>
            </a:r>
            <a:r>
              <a:rPr lang="zh-CN" altLang="en-US" dirty="0" smtClean="0">
                <a:hlinkClick r:id="rId3" action="ppaction://hlinkfile"/>
              </a:rPr>
              <a:t>高速控制器局域网（</a:t>
            </a:r>
            <a:r>
              <a:rPr lang="en-US" altLang="zh-CN" dirty="0" smtClean="0">
                <a:hlinkClick r:id="rId3" action="ppaction://hlinkfile"/>
              </a:rPr>
              <a:t>CAN</a:t>
            </a:r>
            <a:r>
              <a:rPr lang="zh-CN" altLang="en-US" dirty="0" smtClean="0">
                <a:hlinkClick r:id="rId3" action="ppaction://hlinkfile"/>
              </a:rPr>
              <a:t>）物理层要求</a:t>
            </a:r>
            <a:r>
              <a:rPr lang="en-US" altLang="zh-CN" dirty="0" smtClean="0">
                <a:hlinkClick r:id="rId3" action="ppaction://hlinkfile"/>
              </a:rPr>
              <a:t>-EN_1.1.docx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dirty="0" smtClean="0"/>
              <a:t>2.</a:t>
            </a:r>
            <a:r>
              <a:rPr lang="zh-CN" altLang="en-US" dirty="0" smtClean="0"/>
              <a:t>通信矩阵</a:t>
            </a:r>
            <a:endParaRPr lang="en-US" altLang="zh-CN" dirty="0" smtClean="0"/>
          </a:p>
          <a:p>
            <a:r>
              <a:rPr lang="zh-CN" altLang="en-US" dirty="0" smtClean="0">
                <a:solidFill>
                  <a:srgbClr val="00B050"/>
                </a:solidFill>
              </a:rPr>
              <a:t>密码：</a:t>
            </a:r>
            <a:r>
              <a:rPr lang="en-US" altLang="zh-CN" dirty="0">
                <a:solidFill>
                  <a:srgbClr val="00B050"/>
                </a:solidFill>
              </a:rPr>
              <a:t>SGMW5050</a:t>
            </a:r>
            <a:endParaRPr lang="en-US" altLang="zh-CN" dirty="0" smtClean="0">
              <a:solidFill>
                <a:srgbClr val="00B050"/>
              </a:solidFill>
            </a:endParaRPr>
          </a:p>
          <a:p>
            <a:r>
              <a:rPr lang="en-US" altLang="zh-CN" dirty="0" smtClean="0">
                <a:hlinkClick r:id="rId4" action="ppaction://hlinkfile"/>
              </a:rPr>
              <a:t>..\</a:t>
            </a:r>
            <a:r>
              <a:rPr lang="zh-CN" altLang="en-US" dirty="0" smtClean="0">
                <a:hlinkClick r:id="rId4" action="ppaction://hlinkfile"/>
              </a:rPr>
              <a:t>客户需求</a:t>
            </a:r>
            <a:r>
              <a:rPr lang="en-US" altLang="zh-CN" dirty="0" smtClean="0">
                <a:hlinkClick r:id="rId4" action="ppaction://hlinkfile"/>
              </a:rPr>
              <a:t>\06_SGMW\01_Requirement_Engineering\01-CAN\F520MR_CANMatrix_CRS-R_VF.01.02_20250623.xlsx</a:t>
            </a:r>
            <a:endParaRPr lang="en-US" altLang="zh-CN" dirty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网络层要求：</a:t>
            </a:r>
            <a:endParaRPr lang="en-US" altLang="zh-CN" dirty="0" smtClean="0"/>
          </a:p>
          <a:p>
            <a:r>
              <a:rPr lang="en-US" altLang="zh-CN" dirty="0" smtClean="0">
                <a:hlinkClick r:id="rId5" action="ppaction://hlinkfile"/>
              </a:rPr>
              <a:t>..\</a:t>
            </a:r>
            <a:r>
              <a:rPr lang="zh-CN" altLang="en-US" dirty="0" smtClean="0">
                <a:hlinkClick r:id="rId5" action="ppaction://hlinkfile"/>
              </a:rPr>
              <a:t>客户需求</a:t>
            </a:r>
            <a:r>
              <a:rPr lang="en-US" altLang="zh-CN" dirty="0" smtClean="0">
                <a:hlinkClick r:id="rId5" action="ppaction://hlinkfile"/>
              </a:rPr>
              <a:t>\06_SGMW\01_Requirement_Engineering\01-CAN\【C2】SGMWLAN_CAN</a:t>
            </a:r>
            <a:r>
              <a:rPr lang="zh-CN" altLang="en-US" dirty="0" smtClean="0">
                <a:hlinkClick r:id="rId5" action="ppaction://hlinkfile"/>
              </a:rPr>
              <a:t>网络通信策略</a:t>
            </a:r>
            <a:r>
              <a:rPr lang="en-US" altLang="zh-CN" dirty="0" smtClean="0">
                <a:hlinkClick r:id="rId5" action="ppaction://hlinkfile"/>
              </a:rPr>
              <a:t>V2.2_20250326.pdf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75163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5899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3/7: FBL</a:t>
            </a:r>
            <a:endParaRPr lang="zh-CN" altLang="en-US" sz="32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1432766"/>
              </p:ext>
            </p:extLst>
          </p:nvPr>
        </p:nvGraphicFramePr>
        <p:xfrm>
          <a:off x="924844" y="1465004"/>
          <a:ext cx="8829780" cy="25170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125">
                  <a:extLst>
                    <a:ext uri="{9D8B030D-6E8A-4147-A177-3AD203B41FA5}">
                      <a16:colId xmlns:a16="http://schemas.microsoft.com/office/drawing/2014/main" val="1811342261"/>
                    </a:ext>
                  </a:extLst>
                </a:gridCol>
                <a:gridCol w="5593431">
                  <a:extLst>
                    <a:ext uri="{9D8B030D-6E8A-4147-A177-3AD203B41FA5}">
                      <a16:colId xmlns:a16="http://schemas.microsoft.com/office/drawing/2014/main" val="1858759784"/>
                    </a:ext>
                  </a:extLst>
                </a:gridCol>
                <a:gridCol w="1573161">
                  <a:extLst>
                    <a:ext uri="{9D8B030D-6E8A-4147-A177-3AD203B41FA5}">
                      <a16:colId xmlns:a16="http://schemas.microsoft.com/office/drawing/2014/main" val="1107612558"/>
                    </a:ext>
                  </a:extLst>
                </a:gridCol>
                <a:gridCol w="1171063">
                  <a:extLst>
                    <a:ext uri="{9D8B030D-6E8A-4147-A177-3AD203B41FA5}">
                      <a16:colId xmlns:a16="http://schemas.microsoft.com/office/drawing/2014/main" val="172155969"/>
                    </a:ext>
                  </a:extLst>
                </a:gridCol>
              </a:tblGrid>
              <a:tr h="58731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 smtClean="0">
                          <a:effectLst/>
                        </a:rPr>
                        <a:t>BSW-</a:t>
                      </a:r>
                      <a:r>
                        <a:rPr lang="en-US" sz="2000" b="1" u="none" strike="noStrike" dirty="0">
                          <a:effectLst/>
                        </a:rPr>
                        <a:t>-3/7 FBL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测试项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640315"/>
                  </a:ext>
                </a:extLst>
              </a:tr>
              <a:tr h="587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刷件流程验证</a:t>
                      </a:r>
                      <a:r>
                        <a:rPr lang="en-US" altLang="zh-CN" sz="1600" u="none" strike="noStrike" dirty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</a:rPr>
                        <a:t>成功刷写</a:t>
                      </a:r>
                      <a:r>
                        <a:rPr lang="en-US" altLang="zh-CN" sz="1600" u="none" strike="noStrike" dirty="0">
                          <a:effectLst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范围</a:t>
                      </a:r>
                      <a:endParaRPr lang="en-US" altLang="zh-CN" sz="1600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</a:t>
                      </a:r>
                      <a:r>
                        <a:rPr lang="zh-CN" altLang="en-US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此项目无验签步骤</a:t>
                      </a:r>
                      <a:r>
                        <a:rPr lang="en-US" altLang="zh-CN" sz="12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386651480"/>
                  </a:ext>
                </a:extLst>
              </a:tr>
              <a:tr h="6712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刷件失败项验证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如：一致性失败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兼容性失败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验签失败（若有）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384532"/>
                  </a:ext>
                </a:extLst>
              </a:tr>
              <a:tr h="6712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诊断服务的验证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SID34/36/37</a:t>
                      </a:r>
                      <a:r>
                        <a:rPr lang="zh-CN" altLang="en-US" sz="1600" u="none" strike="noStrike" dirty="0">
                          <a:effectLst/>
                        </a:rPr>
                        <a:t>及其</a:t>
                      </a:r>
                      <a:r>
                        <a:rPr lang="en-US" altLang="zh-CN" sz="1600" u="none" strike="noStrike" dirty="0">
                          <a:effectLst/>
                        </a:rPr>
                        <a:t>NRC</a:t>
                      </a:r>
                      <a:r>
                        <a:rPr lang="zh-CN" altLang="en-US" sz="1600" u="none" strike="noStrike" dirty="0">
                          <a:effectLst/>
                        </a:rPr>
                        <a:t>码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0757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6965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58991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3/7: FBL</a:t>
            </a:r>
            <a:endParaRPr lang="zh-CN" altLang="en-US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73727" y="1224091"/>
            <a:ext cx="103484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二、相关需求文档：</a:t>
            </a:r>
            <a:endParaRPr lang="en-US" altLang="zh-CN" sz="2400" b="1" dirty="0" smtClean="0"/>
          </a:p>
          <a:p>
            <a:r>
              <a:rPr lang="en-US" altLang="zh-CN" dirty="0" smtClean="0"/>
              <a:t>1.</a:t>
            </a:r>
            <a:r>
              <a:rPr lang="zh-CN" altLang="en-US" dirty="0" smtClean="0"/>
              <a:t>刷件需求</a:t>
            </a:r>
            <a:endParaRPr lang="en-US" altLang="zh-CN" dirty="0" smtClean="0"/>
          </a:p>
          <a:p>
            <a:r>
              <a:rPr lang="en-US" altLang="zh-CN" dirty="0" smtClean="0">
                <a:hlinkClick r:id="rId3" action="ppaction://hlinkfile"/>
              </a:rPr>
              <a:t>..\</a:t>
            </a:r>
            <a:r>
              <a:rPr lang="zh-CN" altLang="en-US" dirty="0" smtClean="0">
                <a:hlinkClick r:id="rId3" action="ppaction://hlinkfile"/>
              </a:rPr>
              <a:t>客户需求</a:t>
            </a:r>
            <a:r>
              <a:rPr lang="en-US" altLang="zh-CN" dirty="0" smtClean="0">
                <a:hlinkClick r:id="rId3" action="ppaction://hlinkfile"/>
              </a:rPr>
              <a:t>\06_SGMW\01_Requirement_Engineering\03-FBL\ECU Programming Requirement and Process V2.1.pdf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诊断调查表</a:t>
            </a:r>
            <a:endParaRPr lang="en-US" altLang="zh-CN" dirty="0" smtClean="0"/>
          </a:p>
          <a:p>
            <a:r>
              <a:rPr lang="zh-CN" altLang="en-US" dirty="0">
                <a:solidFill>
                  <a:srgbClr val="00B050"/>
                </a:solidFill>
              </a:rPr>
              <a:t>密码：</a:t>
            </a:r>
            <a:r>
              <a:rPr lang="en-US" altLang="zh-CN" dirty="0">
                <a:solidFill>
                  <a:srgbClr val="00B050"/>
                </a:solidFill>
              </a:rPr>
              <a:t> wlzd506#</a:t>
            </a:r>
          </a:p>
          <a:p>
            <a:r>
              <a:rPr lang="en-US" altLang="zh-CN" dirty="0">
                <a:hlinkClick r:id="rId4" action="ppaction://hlinkfile"/>
              </a:rPr>
              <a:t>..\</a:t>
            </a:r>
            <a:r>
              <a:rPr lang="zh-CN" altLang="en-US" dirty="0">
                <a:hlinkClick r:id="rId4" action="ppaction://hlinkfile"/>
              </a:rPr>
              <a:t>客户需求</a:t>
            </a:r>
            <a:r>
              <a:rPr lang="en-US" altLang="zh-CN" dirty="0">
                <a:hlinkClick r:id="rId4" action="ppaction://hlinkfile"/>
              </a:rPr>
              <a:t>\06_SGMW\01_Requirement_Engineering\02-DIA\【C3】F520MR Diagnostic Questionnaire For CRS V1.1_20250618</a:t>
            </a:r>
            <a:r>
              <a:rPr lang="zh-CN" altLang="en-US" dirty="0">
                <a:hlinkClick r:id="rId4" action="ppaction://hlinkfile"/>
              </a:rPr>
              <a:t>更新</a:t>
            </a:r>
            <a:r>
              <a:rPr lang="en-US" altLang="zh-CN" dirty="0">
                <a:hlinkClick r:id="rId4" action="ppaction://hlinkfile"/>
              </a:rPr>
              <a:t>.</a:t>
            </a:r>
            <a:r>
              <a:rPr lang="en-US" altLang="zh-CN" dirty="0" err="1" smtClean="0">
                <a:hlinkClick r:id="rId4" action="ppaction://hlinkfile"/>
              </a:rPr>
              <a:t>xlsx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72073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95124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4/7</a:t>
            </a:r>
            <a:r>
              <a:rPr lang="en-US" altLang="zh-CN" sz="3200" b="1" dirty="0"/>
              <a:t>: NM(Network </a:t>
            </a:r>
            <a:r>
              <a:rPr lang="en-US" altLang="zh-CN" sz="3200" b="1" dirty="0" err="1"/>
              <a:t>Managment</a:t>
            </a:r>
            <a:r>
              <a:rPr lang="en-US" altLang="zh-CN" sz="3200" b="1" dirty="0"/>
              <a:t>)</a:t>
            </a:r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7624051"/>
              </p:ext>
            </p:extLst>
          </p:nvPr>
        </p:nvGraphicFramePr>
        <p:xfrm>
          <a:off x="1956619" y="1347019"/>
          <a:ext cx="8377084" cy="315881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64244">
                  <a:extLst>
                    <a:ext uri="{9D8B030D-6E8A-4147-A177-3AD203B41FA5}">
                      <a16:colId xmlns:a16="http://schemas.microsoft.com/office/drawing/2014/main" val="3910791965"/>
                    </a:ext>
                  </a:extLst>
                </a:gridCol>
                <a:gridCol w="5094868">
                  <a:extLst>
                    <a:ext uri="{9D8B030D-6E8A-4147-A177-3AD203B41FA5}">
                      <a16:colId xmlns:a16="http://schemas.microsoft.com/office/drawing/2014/main" val="1919909262"/>
                    </a:ext>
                  </a:extLst>
                </a:gridCol>
                <a:gridCol w="1469275">
                  <a:extLst>
                    <a:ext uri="{9D8B030D-6E8A-4147-A177-3AD203B41FA5}">
                      <a16:colId xmlns:a16="http://schemas.microsoft.com/office/drawing/2014/main" val="4214777507"/>
                    </a:ext>
                  </a:extLst>
                </a:gridCol>
                <a:gridCol w="1248697">
                  <a:extLst>
                    <a:ext uri="{9D8B030D-6E8A-4147-A177-3AD203B41FA5}">
                      <a16:colId xmlns:a16="http://schemas.microsoft.com/office/drawing/2014/main" val="3079483394"/>
                    </a:ext>
                  </a:extLst>
                </a:gridCol>
              </a:tblGrid>
              <a:tr h="278171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 smtClean="0">
                          <a:effectLst/>
                        </a:rPr>
                        <a:t>BSW-</a:t>
                      </a:r>
                      <a:r>
                        <a:rPr lang="en-US" sz="2000" b="1" u="none" strike="noStrike" dirty="0">
                          <a:effectLst/>
                        </a:rPr>
                        <a:t>-4/7 NM 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测试项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0956241"/>
                  </a:ext>
                </a:extLst>
              </a:tr>
              <a:tr h="5563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</a:rPr>
                        <a:t>唤醒条件测试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如：诊断唤醒</a:t>
                      </a:r>
                      <a:r>
                        <a:rPr lang="en-US" altLang="zh-CN" sz="1600" u="none" strike="noStrike" dirty="0">
                          <a:effectLst/>
                        </a:rPr>
                        <a:t>/NM</a:t>
                      </a:r>
                      <a:r>
                        <a:rPr lang="zh-CN" altLang="en-US" sz="1600" u="none" strike="noStrike" dirty="0">
                          <a:effectLst/>
                        </a:rPr>
                        <a:t>唤醒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208443614"/>
                  </a:ext>
                </a:extLst>
              </a:tr>
              <a:tr h="2781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状态机跳转</a:t>
                      </a:r>
                      <a:r>
                        <a:rPr lang="en-US" altLang="zh-CN" sz="1600" u="none" strike="noStrike" dirty="0">
                          <a:effectLst/>
                        </a:rPr>
                        <a:t>--</a:t>
                      </a:r>
                      <a:r>
                        <a:rPr lang="zh-CN" altLang="en-US" sz="1600" u="none" strike="noStrike" dirty="0">
                          <a:effectLst/>
                        </a:rPr>
                        <a:t>正向测试</a:t>
                      </a:r>
                      <a:r>
                        <a:rPr lang="en-US" altLang="zh-CN" sz="1600" u="none" strike="noStrike" dirty="0">
                          <a:effectLst/>
                        </a:rPr>
                        <a:t>&amp;</a:t>
                      </a:r>
                      <a:r>
                        <a:rPr lang="zh-CN" altLang="en-US" sz="1600" u="none" strike="noStrike" dirty="0">
                          <a:effectLst/>
                        </a:rPr>
                        <a:t>反向测试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五菱验收范围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全功能验收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975206819"/>
                  </a:ext>
                </a:extLst>
              </a:tr>
              <a:tr h="5563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每个状态机下的表现是否正确：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</a:t>
                      </a:r>
                      <a:r>
                        <a:rPr lang="en-US" altLang="zh-CN" sz="1600" u="none" strike="noStrike" dirty="0">
                          <a:effectLst/>
                        </a:rPr>
                        <a:t>APP/NM/</a:t>
                      </a:r>
                      <a:r>
                        <a:rPr lang="zh-CN" altLang="en-US" sz="1600" u="none" strike="noStrike" dirty="0">
                          <a:effectLst/>
                        </a:rPr>
                        <a:t>诊断，各报文的支持情况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8293284"/>
                  </a:ext>
                </a:extLst>
              </a:tr>
              <a:tr h="5563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时间参数是否符合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 smtClean="0">
                          <a:effectLst/>
                        </a:rPr>
                        <a:t>如：</a:t>
                      </a:r>
                      <a:r>
                        <a:rPr lang="en-US" altLang="zh-CN" sz="1600" u="none" strike="noStrike" dirty="0" err="1" smtClean="0">
                          <a:effectLst/>
                        </a:rPr>
                        <a:t>TNM_TimeOut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424903"/>
                  </a:ext>
                </a:extLst>
              </a:tr>
              <a:tr h="5563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帧格式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 smtClean="0">
                          <a:effectLst/>
                        </a:rPr>
                        <a:t>如：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MSG</a:t>
                      </a:r>
                      <a:r>
                        <a:rPr lang="zh-CN" altLang="en-US" sz="1600" u="none" strike="noStrike" dirty="0">
                          <a:effectLst/>
                        </a:rPr>
                        <a:t>内容</a:t>
                      </a:r>
                      <a:r>
                        <a:rPr lang="en-US" altLang="zh-CN" sz="1600" u="none" strike="noStrike" dirty="0">
                          <a:effectLst/>
                        </a:rPr>
                        <a:t>/MSG </a:t>
                      </a:r>
                      <a:r>
                        <a:rPr lang="zh-CN" altLang="en-US" sz="1600" u="none" strike="noStrike" dirty="0">
                          <a:effectLst/>
                        </a:rPr>
                        <a:t>地址。。。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6562947"/>
                  </a:ext>
                </a:extLst>
              </a:tr>
              <a:tr h="2781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err="1">
                          <a:effectLst/>
                        </a:rPr>
                        <a:t>Busoff</a:t>
                      </a:r>
                      <a:r>
                        <a:rPr lang="zh-CN" altLang="en-US" sz="1600" u="none" strike="noStrike" dirty="0">
                          <a:effectLst/>
                        </a:rPr>
                        <a:t>对</a:t>
                      </a:r>
                      <a:r>
                        <a:rPr lang="en-US" sz="1600" u="none" strike="noStrike" dirty="0">
                          <a:effectLst/>
                        </a:rPr>
                        <a:t>NM</a:t>
                      </a:r>
                      <a:r>
                        <a:rPr lang="zh-CN" altLang="en-US" sz="1600" u="none" strike="noStrike" dirty="0">
                          <a:effectLst/>
                        </a:rPr>
                        <a:t>的影响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20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7910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5B8A5-6206-4EF3-8E0D-3213A5366205}" type="datetime1">
              <a:rPr lang="zh-CN" altLang="en-US" smtClean="0"/>
              <a:pPr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13056" y="194565"/>
            <a:ext cx="89717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4/7</a:t>
            </a:r>
            <a:r>
              <a:rPr lang="en-US" altLang="zh-CN" sz="3200" b="1" dirty="0"/>
              <a:t>: NM(Network </a:t>
            </a:r>
            <a:r>
              <a:rPr lang="en-US" altLang="zh-CN" sz="3200" b="1" dirty="0" err="1"/>
              <a:t>Managment</a:t>
            </a:r>
            <a:r>
              <a:rPr lang="en-US" altLang="zh-CN" sz="3200" b="1" dirty="0"/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012723" y="1123469"/>
            <a:ext cx="100111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二、相关需求文档：</a:t>
            </a:r>
            <a:endParaRPr lang="en-US" altLang="zh-CN" sz="2400" b="1" dirty="0" smtClean="0"/>
          </a:p>
          <a:p>
            <a:r>
              <a:rPr lang="en-US" altLang="zh-CN" dirty="0" smtClean="0">
                <a:hlinkClick r:id="rId3" action="ppaction://hlinkfile"/>
              </a:rPr>
              <a:t>..\</a:t>
            </a:r>
            <a:r>
              <a:rPr lang="zh-CN" altLang="en-US" dirty="0" smtClean="0">
                <a:hlinkClick r:id="rId3" action="ppaction://hlinkfile"/>
              </a:rPr>
              <a:t>客户需求</a:t>
            </a:r>
            <a:r>
              <a:rPr lang="en-US" altLang="zh-CN" dirty="0" smtClean="0">
                <a:hlinkClick r:id="rId3" action="ppaction://hlinkfile"/>
              </a:rPr>
              <a:t>\06_SGMW\01_Requirement_Engineering\01-CAN\SGMWLAN_CAN</a:t>
            </a:r>
            <a:r>
              <a:rPr lang="zh-CN" altLang="en-US" dirty="0" smtClean="0">
                <a:hlinkClick r:id="rId3" action="ppaction://hlinkfile"/>
              </a:rPr>
              <a:t>网络通信策略</a:t>
            </a:r>
            <a:r>
              <a:rPr lang="en-US" altLang="zh-CN" dirty="0" smtClean="0">
                <a:hlinkClick r:id="rId3" action="ppaction://hlinkfile"/>
              </a:rPr>
              <a:t>V2.0_20240711.pdf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786298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7683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5/7: </a:t>
            </a:r>
            <a:r>
              <a:rPr lang="en-US" altLang="zh-CN" sz="3200" b="1" dirty="0" err="1"/>
              <a:t>TimeSync</a:t>
            </a:r>
            <a:endParaRPr lang="en-US" altLang="zh-CN" sz="32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532654"/>
              </p:ext>
            </p:extLst>
          </p:nvPr>
        </p:nvGraphicFramePr>
        <p:xfrm>
          <a:off x="2054943" y="1641987"/>
          <a:ext cx="8868697" cy="3216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0488">
                  <a:extLst>
                    <a:ext uri="{9D8B030D-6E8A-4147-A177-3AD203B41FA5}">
                      <a16:colId xmlns:a16="http://schemas.microsoft.com/office/drawing/2014/main" val="2108570679"/>
                    </a:ext>
                  </a:extLst>
                </a:gridCol>
                <a:gridCol w="5890143">
                  <a:extLst>
                    <a:ext uri="{9D8B030D-6E8A-4147-A177-3AD203B41FA5}">
                      <a16:colId xmlns:a16="http://schemas.microsoft.com/office/drawing/2014/main" val="886237672"/>
                    </a:ext>
                  </a:extLst>
                </a:gridCol>
                <a:gridCol w="1356852">
                  <a:extLst>
                    <a:ext uri="{9D8B030D-6E8A-4147-A177-3AD203B41FA5}">
                      <a16:colId xmlns:a16="http://schemas.microsoft.com/office/drawing/2014/main" val="4022434354"/>
                    </a:ext>
                  </a:extLst>
                </a:gridCol>
                <a:gridCol w="1101214">
                  <a:extLst>
                    <a:ext uri="{9D8B030D-6E8A-4147-A177-3AD203B41FA5}">
                      <a16:colId xmlns:a16="http://schemas.microsoft.com/office/drawing/2014/main" val="3320125698"/>
                    </a:ext>
                  </a:extLst>
                </a:gridCol>
              </a:tblGrid>
              <a:tr h="70792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 smtClean="0">
                          <a:effectLst/>
                        </a:rPr>
                        <a:t>BSW-</a:t>
                      </a:r>
                      <a:r>
                        <a:rPr lang="en-US" sz="2000" b="1" u="none" strike="noStrike" dirty="0">
                          <a:effectLst/>
                        </a:rPr>
                        <a:t>-5/7 NM 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测试项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4962669"/>
                  </a:ext>
                </a:extLst>
              </a:tr>
              <a:tr h="35833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</a:rPr>
                        <a:t>同步条件测试</a:t>
                      </a:r>
                      <a:r>
                        <a:rPr lang="en-US" altLang="zh-CN" sz="1600" u="none" strike="noStrike" dirty="0">
                          <a:effectLst/>
                        </a:rPr>
                        <a:t>--</a:t>
                      </a:r>
                      <a:r>
                        <a:rPr lang="zh-CN" altLang="en-US" sz="1600" u="none" strike="noStrike" dirty="0">
                          <a:effectLst/>
                        </a:rPr>
                        <a:t>同步成功</a:t>
                      </a:r>
                      <a:r>
                        <a:rPr lang="en-US" altLang="zh-CN" sz="1600" u="none" strike="noStrike" dirty="0">
                          <a:effectLst/>
                        </a:rPr>
                        <a:t>&amp;</a:t>
                      </a:r>
                      <a:r>
                        <a:rPr lang="zh-CN" altLang="en-US" sz="1600" u="none" strike="noStrike" dirty="0">
                          <a:effectLst/>
                        </a:rPr>
                        <a:t>同步失败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五菱验收范围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50672736"/>
                  </a:ext>
                </a:extLst>
              </a:tr>
              <a:tr h="7166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对应的同步状态位是否正确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即：</a:t>
                      </a:r>
                      <a:r>
                        <a:rPr lang="en-US" sz="1600" u="none" strike="noStrike" dirty="0">
                          <a:effectLst/>
                        </a:rPr>
                        <a:t>status：bit0-bit7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677824792"/>
                  </a:ext>
                </a:extLst>
              </a:tr>
              <a:tr h="7166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各个时间阈值的测试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</a:t>
                      </a:r>
                      <a:r>
                        <a:rPr lang="en-US" altLang="zh-CN" sz="1600" u="none" strike="noStrike" dirty="0">
                          <a:effectLst/>
                        </a:rPr>
                        <a:t>Sync/FUNC </a:t>
                      </a:r>
                      <a:r>
                        <a:rPr lang="zh-CN" altLang="en-US" sz="1600" u="none" strike="noStrike" dirty="0">
                          <a:effectLst/>
                        </a:rPr>
                        <a:t>帧周期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超时时间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超前滞后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清除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。。。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9677517"/>
                  </a:ext>
                </a:extLst>
              </a:tr>
              <a:tr h="71667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帧格主从同步的情况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即：主雷达对从雷达每 </a:t>
                      </a:r>
                      <a:r>
                        <a:rPr lang="en-US" altLang="zh-CN" sz="1600" u="none" strike="noStrike" dirty="0">
                          <a:effectLst/>
                        </a:rPr>
                        <a:t>4 </a:t>
                      </a:r>
                      <a:r>
                        <a:rPr lang="zh-CN" altLang="en-US" sz="1600" u="none" strike="noStrike" dirty="0">
                          <a:effectLst/>
                        </a:rPr>
                        <a:t>帧进行一次时间调整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90342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6428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76836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5/7: </a:t>
            </a:r>
            <a:r>
              <a:rPr lang="en-US" altLang="zh-CN" sz="3200" b="1" dirty="0" err="1"/>
              <a:t>TimeSync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73727" y="1172629"/>
            <a:ext cx="6149860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二、相关需求文档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主从逻辑：</a:t>
            </a:r>
            <a:endParaRPr lang="en-US" altLang="zh-CN" sz="2000" dirty="0" smtClean="0"/>
          </a:p>
          <a:p>
            <a:r>
              <a:rPr lang="en-US" altLang="zh-CN" sz="1600" dirty="0" smtClean="0">
                <a:hlinkClick r:id="rId3" action="ppaction://hlinkfile"/>
              </a:rPr>
              <a:t>..\</a:t>
            </a:r>
            <a:r>
              <a:rPr lang="zh-CN" altLang="en-US" sz="1600" dirty="0" smtClean="0">
                <a:hlinkClick r:id="rId3" action="ppaction://hlinkfile"/>
              </a:rPr>
              <a:t>时间同步</a:t>
            </a:r>
            <a:r>
              <a:rPr lang="en-US" altLang="zh-CN" sz="1600" dirty="0" smtClean="0">
                <a:hlinkClick r:id="rId3" action="ppaction://hlinkfile"/>
              </a:rPr>
              <a:t>\</a:t>
            </a:r>
            <a:r>
              <a:rPr lang="zh-CN" altLang="en-US" sz="1600" dirty="0" smtClean="0">
                <a:hlinkClick r:id="rId3" action="ppaction://hlinkfile"/>
              </a:rPr>
              <a:t>角雷达同步软件需求</a:t>
            </a:r>
            <a:r>
              <a:rPr lang="en-US" altLang="zh-CN" sz="1600" dirty="0" smtClean="0">
                <a:hlinkClick r:id="rId3" action="ppaction://hlinkfile"/>
              </a:rPr>
              <a:t>20250604.doc</a:t>
            </a:r>
            <a:endParaRPr lang="en-US" altLang="zh-CN" sz="1600" dirty="0"/>
          </a:p>
          <a:p>
            <a:endParaRPr lang="en-US" altLang="zh-CN" sz="1600" dirty="0" smtClean="0"/>
          </a:p>
          <a:p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 smtClean="0"/>
              <a:t>客户需求：</a:t>
            </a:r>
            <a:endParaRPr lang="en-US" altLang="zh-CN" sz="2000" dirty="0" smtClean="0"/>
          </a:p>
          <a:p>
            <a:r>
              <a:rPr lang="zh-CN" altLang="en-US" sz="2000" dirty="0"/>
              <a:t>无</a:t>
            </a:r>
            <a:endParaRPr lang="en-US" altLang="zh-CN" sz="2000" dirty="0" smtClean="0"/>
          </a:p>
        </p:txBody>
      </p:sp>
    </p:spTree>
    <p:extLst>
      <p:ext uri="{BB962C8B-B14F-4D97-AF65-F5344CB8AC3E}">
        <p14:creationId xmlns:p14="http://schemas.microsoft.com/office/powerpoint/2010/main" val="3436423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79000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BSW</a:t>
            </a:r>
            <a:r>
              <a:rPr lang="zh-CN" altLang="en-US" sz="3200" b="1" dirty="0" smtClean="0"/>
              <a:t>模块</a:t>
            </a:r>
            <a:r>
              <a:rPr lang="en-US" altLang="zh-CN" sz="3200" b="1" dirty="0" smtClean="0"/>
              <a:t> 6&amp;7: </a:t>
            </a:r>
            <a:r>
              <a:rPr lang="en-US" altLang="zh-CN" sz="3200" b="1" dirty="0" err="1" smtClean="0"/>
              <a:t>CyberSecurity</a:t>
            </a:r>
            <a:r>
              <a:rPr lang="en-US" altLang="zh-CN" sz="3200" b="1" dirty="0" smtClean="0"/>
              <a:t> &amp; </a:t>
            </a:r>
            <a:r>
              <a:rPr lang="en-US" altLang="zh-CN" sz="3200" b="1" dirty="0"/>
              <a:t>EDR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140633"/>
              </p:ext>
            </p:extLst>
          </p:nvPr>
        </p:nvGraphicFramePr>
        <p:xfrm>
          <a:off x="1091995" y="1294171"/>
          <a:ext cx="7481733" cy="19504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11751">
                  <a:extLst>
                    <a:ext uri="{9D8B030D-6E8A-4147-A177-3AD203B41FA5}">
                      <a16:colId xmlns:a16="http://schemas.microsoft.com/office/drawing/2014/main" val="786612908"/>
                    </a:ext>
                  </a:extLst>
                </a:gridCol>
                <a:gridCol w="4167789">
                  <a:extLst>
                    <a:ext uri="{9D8B030D-6E8A-4147-A177-3AD203B41FA5}">
                      <a16:colId xmlns:a16="http://schemas.microsoft.com/office/drawing/2014/main" val="2445174088"/>
                    </a:ext>
                  </a:extLst>
                </a:gridCol>
                <a:gridCol w="973394">
                  <a:extLst>
                    <a:ext uri="{9D8B030D-6E8A-4147-A177-3AD203B41FA5}">
                      <a16:colId xmlns:a16="http://schemas.microsoft.com/office/drawing/2014/main" val="3358768828"/>
                    </a:ext>
                  </a:extLst>
                </a:gridCol>
                <a:gridCol w="1828799">
                  <a:extLst>
                    <a:ext uri="{9D8B030D-6E8A-4147-A177-3AD203B41FA5}">
                      <a16:colId xmlns:a16="http://schemas.microsoft.com/office/drawing/2014/main" val="3233418500"/>
                    </a:ext>
                  </a:extLst>
                </a:gridCol>
              </a:tblGrid>
              <a:tr h="12365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effectLst/>
                        </a:rPr>
                        <a:t>6&amp;7: </a:t>
                      </a:r>
                      <a:r>
                        <a:rPr lang="en-US" sz="2000" b="1" u="none" strike="noStrike" dirty="0" err="1">
                          <a:effectLst/>
                        </a:rPr>
                        <a:t>CyberSecurity</a:t>
                      </a:r>
                      <a:r>
                        <a:rPr lang="en-US" sz="2000" b="1" u="none" strike="noStrike" dirty="0">
                          <a:effectLst/>
                        </a:rPr>
                        <a:t> &amp; EDR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519205"/>
                  </a:ext>
                </a:extLst>
              </a:tr>
              <a:tr h="3569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u="none" strike="noStrike" dirty="0" err="1">
                          <a:effectLst/>
                        </a:rPr>
                        <a:t>CyberSecurity</a:t>
                      </a:r>
                      <a:r>
                        <a:rPr lang="en-US" sz="1600" u="none" strike="noStrike" dirty="0">
                          <a:effectLst/>
                        </a:rPr>
                        <a:t> </a:t>
                      </a:r>
                      <a:r>
                        <a:rPr lang="zh-CN" altLang="en-US" sz="1600" u="none" strike="noStrike" dirty="0">
                          <a:effectLst/>
                        </a:rPr>
                        <a:t>此模块实现方式未知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五菱：无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01635259"/>
                  </a:ext>
                </a:extLst>
              </a:tr>
              <a:tr h="35694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 smtClean="0">
                          <a:effectLst/>
                        </a:rPr>
                        <a:t>EDR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9903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8047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97048" y="128589"/>
            <a:ext cx="8279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/>
              <a:t>四、验收</a:t>
            </a:r>
            <a:r>
              <a:rPr lang="zh-CN" altLang="en-US" sz="4000" b="1" dirty="0" smtClean="0"/>
              <a:t>范围</a:t>
            </a:r>
            <a:r>
              <a:rPr lang="zh-CN" altLang="en-US" sz="4000" b="1" dirty="0" smtClean="0"/>
              <a:t>之</a:t>
            </a:r>
            <a:r>
              <a:rPr lang="en-US" altLang="zh-CN" sz="4000" b="1" dirty="0" smtClean="0"/>
              <a:t>Function</a:t>
            </a:r>
            <a:r>
              <a:rPr lang="zh-CN" altLang="en-US" sz="4000" b="1" dirty="0" smtClean="0"/>
              <a:t>模块</a:t>
            </a:r>
            <a:endParaRPr lang="en-US" altLang="zh-CN" sz="4000" b="1" dirty="0" smtClean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830541"/>
              </p:ext>
            </p:extLst>
          </p:nvPr>
        </p:nvGraphicFramePr>
        <p:xfrm>
          <a:off x="1907951" y="1939824"/>
          <a:ext cx="6605248" cy="38218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125">
                  <a:extLst>
                    <a:ext uri="{9D8B030D-6E8A-4147-A177-3AD203B41FA5}">
                      <a16:colId xmlns:a16="http://schemas.microsoft.com/office/drawing/2014/main" val="2508791844"/>
                    </a:ext>
                  </a:extLst>
                </a:gridCol>
                <a:gridCol w="3442416">
                  <a:extLst>
                    <a:ext uri="{9D8B030D-6E8A-4147-A177-3AD203B41FA5}">
                      <a16:colId xmlns:a16="http://schemas.microsoft.com/office/drawing/2014/main" val="1238691047"/>
                    </a:ext>
                  </a:extLst>
                </a:gridCol>
                <a:gridCol w="1484671">
                  <a:extLst>
                    <a:ext uri="{9D8B030D-6E8A-4147-A177-3AD203B41FA5}">
                      <a16:colId xmlns:a16="http://schemas.microsoft.com/office/drawing/2014/main" val="1966737449"/>
                    </a:ext>
                  </a:extLst>
                </a:gridCol>
                <a:gridCol w="1186036">
                  <a:extLst>
                    <a:ext uri="{9D8B030D-6E8A-4147-A177-3AD203B41FA5}">
                      <a16:colId xmlns:a16="http://schemas.microsoft.com/office/drawing/2014/main" val="1065002480"/>
                    </a:ext>
                  </a:extLst>
                </a:gridCol>
              </a:tblGrid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 smtClean="0">
                          <a:effectLst/>
                        </a:rPr>
                        <a:t>Function</a:t>
                      </a:r>
                      <a:r>
                        <a:rPr lang="zh-CN" altLang="en-US" sz="2000" b="1" u="none" strike="noStrike" dirty="0">
                          <a:effectLst/>
                        </a:rPr>
                        <a:t>验收内容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87223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DOW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五菱验收范围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61263665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RCW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4001158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BSD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375446"/>
                  </a:ext>
                </a:extLst>
              </a:tr>
              <a:tr h="3406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LCA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6467602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RCTA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084820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RCTB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6018313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FCTA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25358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8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FCTB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155812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9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Alignment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708608"/>
                  </a:ext>
                </a:extLst>
              </a:tr>
              <a:tr h="3481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10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u="none" strike="noStrike" dirty="0">
                          <a:effectLst/>
                        </a:rPr>
                        <a:t>Blockage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852737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920043" y="1095762"/>
            <a:ext cx="9757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2</a:t>
            </a:r>
            <a:r>
              <a:rPr lang="zh-CN" altLang="en-US" sz="3200" b="1" dirty="0" smtClean="0"/>
              <a:t>、</a:t>
            </a:r>
            <a:r>
              <a:rPr lang="en-US" altLang="zh-CN" sz="3200" b="1" dirty="0" smtClean="0"/>
              <a:t>Function</a:t>
            </a:r>
            <a:r>
              <a:rPr lang="zh-CN" altLang="en-US" sz="3200" b="1" dirty="0" smtClean="0"/>
              <a:t>模块验收</a:t>
            </a:r>
            <a:endParaRPr lang="en-US" altLang="zh-CN" sz="3200" b="1" dirty="0" smtClean="0"/>
          </a:p>
        </p:txBody>
      </p:sp>
    </p:spTree>
    <p:extLst>
      <p:ext uri="{BB962C8B-B14F-4D97-AF65-F5344CB8AC3E}">
        <p14:creationId xmlns:p14="http://schemas.microsoft.com/office/powerpoint/2010/main" val="48379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Function</a:t>
            </a:r>
            <a:r>
              <a:rPr lang="zh-CN" altLang="en-US" sz="3200" b="1" dirty="0"/>
              <a:t>模块</a:t>
            </a:r>
            <a:endParaRPr lang="en-US" altLang="zh-CN" sz="3200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067769"/>
              </p:ext>
            </p:extLst>
          </p:nvPr>
        </p:nvGraphicFramePr>
        <p:xfrm>
          <a:off x="511277" y="963560"/>
          <a:ext cx="11169446" cy="4463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9702">
                  <a:extLst>
                    <a:ext uri="{9D8B030D-6E8A-4147-A177-3AD203B41FA5}">
                      <a16:colId xmlns:a16="http://schemas.microsoft.com/office/drawing/2014/main" val="2500625568"/>
                    </a:ext>
                  </a:extLst>
                </a:gridCol>
                <a:gridCol w="7836376">
                  <a:extLst>
                    <a:ext uri="{9D8B030D-6E8A-4147-A177-3AD203B41FA5}">
                      <a16:colId xmlns:a16="http://schemas.microsoft.com/office/drawing/2014/main" val="20932352"/>
                    </a:ext>
                  </a:extLst>
                </a:gridCol>
                <a:gridCol w="1533832">
                  <a:extLst>
                    <a:ext uri="{9D8B030D-6E8A-4147-A177-3AD203B41FA5}">
                      <a16:colId xmlns:a16="http://schemas.microsoft.com/office/drawing/2014/main" val="1840295595"/>
                    </a:ext>
                  </a:extLst>
                </a:gridCol>
                <a:gridCol w="1199536">
                  <a:extLst>
                    <a:ext uri="{9D8B030D-6E8A-4147-A177-3AD203B41FA5}">
                      <a16:colId xmlns:a16="http://schemas.microsoft.com/office/drawing/2014/main" val="2527688993"/>
                    </a:ext>
                  </a:extLst>
                </a:gridCol>
              </a:tblGrid>
              <a:tr h="61838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>
                          <a:effectLst/>
                        </a:rPr>
                        <a:t>No: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effectLst/>
                        </a:rPr>
                        <a:t>Function-DOW/RCW/BSD/LCA/RCTA/RCTB/FCTA/FCTB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5939306"/>
                  </a:ext>
                </a:extLst>
              </a:tr>
              <a:tr h="3123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</a:rPr>
                        <a:t>状态机间跳转条件测试 </a:t>
                      </a:r>
                      <a:r>
                        <a:rPr lang="en-US" altLang="zh-CN" sz="1600" u="none" strike="noStrike" dirty="0">
                          <a:effectLst/>
                        </a:rPr>
                        <a:t>– </a:t>
                      </a:r>
                      <a:r>
                        <a:rPr lang="zh-CN" altLang="en-US" sz="1600" u="none" strike="noStrike" dirty="0">
                          <a:effectLst/>
                        </a:rPr>
                        <a:t>正向测试</a:t>
                      </a:r>
                      <a:r>
                        <a:rPr lang="en-US" altLang="zh-CN" sz="1600" u="none" strike="noStrike" dirty="0">
                          <a:effectLst/>
                        </a:rPr>
                        <a:t>&amp;</a:t>
                      </a:r>
                      <a:r>
                        <a:rPr lang="zh-CN" altLang="en-US" sz="1600" u="none" strike="noStrike" dirty="0">
                          <a:effectLst/>
                        </a:rPr>
                        <a:t>反向测试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五菱验收范围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>
                          <a:effectLst/>
                        </a:rPr>
                        <a:t>全功能验收</a:t>
                      </a:r>
                      <a:endParaRPr lang="zh-CN" altLang="en-US" sz="16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7458161"/>
                  </a:ext>
                </a:extLst>
              </a:tr>
              <a:tr h="4959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不同状态机下，输出结果测试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如：对应的</a:t>
                      </a:r>
                      <a:r>
                        <a:rPr lang="en-US" altLang="zh-CN" sz="1600" u="none" strike="noStrike" dirty="0">
                          <a:effectLst/>
                        </a:rPr>
                        <a:t>signal</a:t>
                      </a:r>
                      <a:r>
                        <a:rPr lang="zh-CN" altLang="en-US" sz="1600" u="none" strike="noStrike" dirty="0">
                          <a:effectLst/>
                        </a:rPr>
                        <a:t>取值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247320"/>
                  </a:ext>
                </a:extLst>
              </a:tr>
              <a:tr h="4959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左右两侧雷达发送到</a:t>
                      </a:r>
                      <a:r>
                        <a:rPr lang="en-US" altLang="zh-CN" sz="1600" u="none" strike="noStrike" dirty="0">
                          <a:effectLst/>
                        </a:rPr>
                        <a:t>can</a:t>
                      </a:r>
                      <a:r>
                        <a:rPr lang="zh-CN" altLang="en-US" sz="1600" u="none" strike="noStrike" dirty="0">
                          <a:effectLst/>
                        </a:rPr>
                        <a:t>总线上的信号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即：是否有融合逻辑，若有怎么定义的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773641"/>
                  </a:ext>
                </a:extLst>
              </a:tr>
              <a:tr h="4959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>
                          <a:effectLst/>
                        </a:rPr>
                        <a:t>NVM</a:t>
                      </a:r>
                      <a:r>
                        <a:rPr lang="zh-CN" altLang="en-US" sz="1600" u="none" strike="noStrike" dirty="0">
                          <a:effectLst/>
                        </a:rPr>
                        <a:t>要求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如：出厂默认状态；下电</a:t>
                      </a:r>
                      <a:r>
                        <a:rPr lang="en-US" altLang="zh-CN" sz="1600" u="none" strike="noStrike" dirty="0">
                          <a:effectLst/>
                        </a:rPr>
                        <a:t>/</a:t>
                      </a:r>
                      <a:r>
                        <a:rPr lang="zh-CN" altLang="en-US" sz="1600" u="none" strike="noStrike" dirty="0">
                          <a:effectLst/>
                        </a:rPr>
                        <a:t>刷件时，功能打开或关闭状态是否记录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9783717"/>
                  </a:ext>
                </a:extLst>
              </a:tr>
              <a:tr h="74078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5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 smtClean="0">
                          <a:effectLst/>
                        </a:rPr>
                        <a:t>功能开关逻辑</a:t>
                      </a:r>
                      <a:r>
                        <a:rPr lang="zh-CN" altLang="en-US" sz="1600" u="none" strike="noStrike" dirty="0">
                          <a:effectLst/>
                        </a:rPr>
                        <a:t/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如：功能正在激活，这时候驾驶员点软开关执行关闭功能，功能不能被关闭（是否五菱独有？）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775907"/>
                  </a:ext>
                </a:extLst>
              </a:tr>
              <a:tr h="4959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6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工厂模式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即：是否有工厂模式下对应的设计逻辑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68126"/>
                  </a:ext>
                </a:extLst>
              </a:tr>
              <a:tr h="3123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7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>
                          <a:effectLst/>
                        </a:rPr>
                        <a:t>DOW</a:t>
                      </a:r>
                      <a:r>
                        <a:rPr lang="zh-CN" altLang="en-US" sz="1600" u="none" strike="noStrike" dirty="0">
                          <a:effectLst/>
                        </a:rPr>
                        <a:t>，车辆熄火功能维持时间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475970"/>
                  </a:ext>
                </a:extLst>
              </a:tr>
              <a:tr h="4959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8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拖车模式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即：是否有拖车模式下对应的设计逻辑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　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b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6436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926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Function</a:t>
            </a:r>
            <a:r>
              <a:rPr lang="zh-CN" altLang="en-US" sz="3200" b="1" dirty="0"/>
              <a:t>模块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865237" y="1370243"/>
            <a:ext cx="8485239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Function-DOW/RCW/BSD/LCA/RCTA/RCTB/FCTA/FCTB</a:t>
            </a:r>
            <a:endParaRPr lang="en-US" altLang="zh-CN" sz="2400" b="1" dirty="0">
              <a:solidFill>
                <a:srgbClr val="000000"/>
              </a:solidFill>
              <a:latin typeface="等线" panose="02010600030101010101" pitchFamily="2" charset="-122"/>
            </a:endParaRPr>
          </a:p>
          <a:p>
            <a:r>
              <a:rPr lang="zh-CN" altLang="en-US" sz="2400" b="1" dirty="0" smtClean="0"/>
              <a:t>相关</a:t>
            </a:r>
            <a:r>
              <a:rPr lang="zh-CN" altLang="en-US" sz="2400" b="1" dirty="0" smtClean="0"/>
              <a:t>需求</a:t>
            </a:r>
            <a:r>
              <a:rPr lang="zh-CN" altLang="en-US" sz="2400" b="1" dirty="0"/>
              <a:t>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r>
              <a:rPr lang="en-US" altLang="zh-CN" sz="1600" dirty="0" smtClean="0">
                <a:hlinkClick r:id="rId3" action="ppaction://hlinkfile"/>
              </a:rPr>
              <a:t>..\</a:t>
            </a:r>
            <a:r>
              <a:rPr lang="zh-CN" altLang="en-US" sz="1600" dirty="0" smtClean="0">
                <a:hlinkClick r:id="rId3" action="ppaction://hlinkfile"/>
              </a:rPr>
              <a:t>客户需求</a:t>
            </a:r>
            <a:r>
              <a:rPr lang="en-US" altLang="zh-CN" sz="1600" dirty="0" smtClean="0">
                <a:hlinkClick r:id="rId3" action="ppaction://hlinkfile"/>
              </a:rPr>
              <a:t>\06_SGMW\01_Requirement_Engineering\04-Function\【C3】F520MR&amp;F520SR</a:t>
            </a:r>
            <a:r>
              <a:rPr lang="zh-CN" altLang="en-US" sz="1600" dirty="0" smtClean="0">
                <a:hlinkClick r:id="rId3" action="ppaction://hlinkfile"/>
              </a:rPr>
              <a:t>印尼 智能驾驶辅助系统功能规范（后安全预警）</a:t>
            </a:r>
            <a:r>
              <a:rPr lang="en-US" altLang="zh-CN" sz="1600" dirty="0" smtClean="0">
                <a:hlinkClick r:id="rId3" action="ppaction://hlinkfile"/>
              </a:rPr>
              <a:t>V1.0.pdf</a:t>
            </a:r>
            <a:endParaRPr lang="en-US" altLang="zh-CN" sz="1600" dirty="0" smtClean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000" dirty="0"/>
              <a:t>通信矩阵</a:t>
            </a:r>
            <a:endParaRPr lang="en-US" altLang="zh-CN" sz="2000" dirty="0"/>
          </a:p>
          <a:p>
            <a:r>
              <a:rPr lang="zh-CN" altLang="en-US" dirty="0">
                <a:solidFill>
                  <a:srgbClr val="00B050"/>
                </a:solidFill>
              </a:rPr>
              <a:t>密码：</a:t>
            </a:r>
            <a:r>
              <a:rPr lang="en-US" altLang="zh-CN" dirty="0">
                <a:solidFill>
                  <a:srgbClr val="00B050"/>
                </a:solidFill>
              </a:rPr>
              <a:t>SGMW5050</a:t>
            </a:r>
          </a:p>
          <a:p>
            <a:r>
              <a:rPr lang="en-US" altLang="zh-CN" sz="1600" dirty="0">
                <a:hlinkClick r:id="rId4" action="ppaction://hlinkfile"/>
              </a:rPr>
              <a:t>..\</a:t>
            </a:r>
            <a:r>
              <a:rPr lang="zh-CN" altLang="en-US" sz="1600" dirty="0">
                <a:hlinkClick r:id="rId4" action="ppaction://hlinkfile"/>
              </a:rPr>
              <a:t>客户需求</a:t>
            </a:r>
            <a:r>
              <a:rPr lang="en-US" altLang="zh-CN" sz="1600" dirty="0">
                <a:hlinkClick r:id="rId4" action="ppaction://hlinkfile"/>
              </a:rPr>
              <a:t>\</a:t>
            </a:r>
            <a:r>
              <a:rPr lang="en-US" altLang="zh-CN" sz="1600" dirty="0" smtClean="0">
                <a:hlinkClick r:id="rId4" action="ppaction://hlinkfile"/>
              </a:rPr>
              <a:t>06_SGMW\01_Requirement_Engineering\01-CAN\F520MR_CANMatrix_CRS-R_VF.01.02_20250623.xlsx</a:t>
            </a:r>
            <a:endParaRPr lang="en-US" altLang="zh-CN" sz="1600" dirty="0" smtClean="0"/>
          </a:p>
          <a:p>
            <a:endParaRPr lang="en-US" altLang="zh-CN" sz="2000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69909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2025/10/14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Function</a:t>
            </a:r>
            <a:r>
              <a:rPr lang="zh-CN" altLang="en-US" sz="3200" b="1" dirty="0"/>
              <a:t>模块</a:t>
            </a:r>
            <a:endParaRPr lang="en-US" altLang="zh-CN" sz="32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9163977"/>
              </p:ext>
            </p:extLst>
          </p:nvPr>
        </p:nvGraphicFramePr>
        <p:xfrm>
          <a:off x="1327355" y="1173521"/>
          <a:ext cx="8426245" cy="2467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6304">
                  <a:extLst>
                    <a:ext uri="{9D8B030D-6E8A-4147-A177-3AD203B41FA5}">
                      <a16:colId xmlns:a16="http://schemas.microsoft.com/office/drawing/2014/main" val="1695655476"/>
                    </a:ext>
                  </a:extLst>
                </a:gridCol>
                <a:gridCol w="5157077">
                  <a:extLst>
                    <a:ext uri="{9D8B030D-6E8A-4147-A177-3AD203B41FA5}">
                      <a16:colId xmlns:a16="http://schemas.microsoft.com/office/drawing/2014/main" val="738831304"/>
                    </a:ext>
                  </a:extLst>
                </a:gridCol>
                <a:gridCol w="1327355">
                  <a:extLst>
                    <a:ext uri="{9D8B030D-6E8A-4147-A177-3AD203B41FA5}">
                      <a16:colId xmlns:a16="http://schemas.microsoft.com/office/drawing/2014/main" val="2926441967"/>
                    </a:ext>
                  </a:extLst>
                </a:gridCol>
                <a:gridCol w="1435509">
                  <a:extLst>
                    <a:ext uri="{9D8B030D-6E8A-4147-A177-3AD203B41FA5}">
                      <a16:colId xmlns:a16="http://schemas.microsoft.com/office/drawing/2014/main" val="3060203295"/>
                    </a:ext>
                  </a:extLst>
                </a:gridCol>
              </a:tblGrid>
              <a:tr h="4113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>
                          <a:effectLst/>
                        </a:rPr>
                        <a:t>Function-Blockage (blindness)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498545"/>
                  </a:ext>
                </a:extLst>
              </a:tr>
              <a:tr h="4113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u="none" strike="noStrike" dirty="0">
                          <a:effectLst/>
                        </a:rPr>
                        <a:t>永久失明故障 </a:t>
                      </a:r>
                      <a:r>
                        <a:rPr lang="en-US" altLang="zh-CN" sz="1600" u="none" strike="noStrike" dirty="0">
                          <a:effectLst/>
                        </a:rPr>
                        <a:t>&amp; </a:t>
                      </a:r>
                      <a:r>
                        <a:rPr lang="zh-CN" altLang="en-US" sz="1600" u="none" strike="noStrike" dirty="0">
                          <a:effectLst/>
                        </a:rPr>
                        <a:t>暂时失明故障 </a:t>
                      </a:r>
                      <a:r>
                        <a:rPr lang="en-US" altLang="zh-CN" sz="1600" u="none" strike="noStrike" dirty="0">
                          <a:effectLst/>
                        </a:rPr>
                        <a:t>-- </a:t>
                      </a:r>
                      <a:r>
                        <a:rPr lang="zh-CN" altLang="en-US" sz="1600" u="none" strike="noStrike" dirty="0">
                          <a:effectLst/>
                        </a:rPr>
                        <a:t>触发</a:t>
                      </a:r>
                      <a:r>
                        <a:rPr lang="en-US" altLang="zh-CN" sz="1600" u="none" strike="noStrike" dirty="0">
                          <a:effectLst/>
                        </a:rPr>
                        <a:t>&amp;</a:t>
                      </a:r>
                      <a:r>
                        <a:rPr lang="zh-CN" altLang="en-US" sz="1600" u="none" strike="noStrike" dirty="0">
                          <a:effectLst/>
                        </a:rPr>
                        <a:t>恢复条件测试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五菱验收范围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>
                          <a:effectLst/>
                        </a:rPr>
                        <a:t>待补充</a:t>
                      </a:r>
                      <a:r>
                        <a:rPr lang="en-US" altLang="zh-CN" sz="1600" u="none" strike="noStrike" dirty="0">
                          <a:effectLst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0669614"/>
                  </a:ext>
                </a:extLst>
              </a:tr>
              <a:tr h="822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系统对不同失明的反应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如：包括永久失明 </a:t>
                      </a:r>
                      <a:r>
                        <a:rPr lang="en-US" altLang="zh-CN" sz="1600" u="none" strike="noStrike" dirty="0">
                          <a:effectLst/>
                        </a:rPr>
                        <a:t>&amp; </a:t>
                      </a:r>
                      <a:r>
                        <a:rPr lang="zh-CN" altLang="en-US" sz="1600" u="none" strike="noStrike" dirty="0">
                          <a:effectLst/>
                        </a:rPr>
                        <a:t>暂时失明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726336"/>
                  </a:ext>
                </a:extLst>
              </a:tr>
              <a:tr h="822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>
                          <a:effectLst/>
                        </a:rPr>
                        <a:t>记忆策略：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zh-CN" altLang="en-US" sz="1600" u="none" strike="noStrike" dirty="0">
                          <a:effectLst/>
                        </a:rPr>
                        <a:t>如：重新上电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871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5299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Function</a:t>
            </a:r>
            <a:r>
              <a:rPr lang="zh-CN" altLang="en-US" sz="3200" b="1" dirty="0"/>
              <a:t>模块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865237" y="1370243"/>
            <a:ext cx="8485239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Function-Blockage (blindness)</a:t>
            </a:r>
            <a:endParaRPr lang="en-US" altLang="zh-CN" sz="2400" b="1" dirty="0">
              <a:solidFill>
                <a:srgbClr val="000000"/>
              </a:solidFill>
              <a:latin typeface="等线" panose="02010600030101010101" pitchFamily="2" charset="-122"/>
            </a:endParaRPr>
          </a:p>
          <a:p>
            <a:r>
              <a:rPr lang="zh-CN" altLang="en-US" sz="2400" b="1" dirty="0" smtClean="0"/>
              <a:t>相关</a:t>
            </a:r>
            <a:r>
              <a:rPr lang="zh-CN" altLang="en-US" sz="2400" b="1" dirty="0" smtClean="0"/>
              <a:t>需求</a:t>
            </a:r>
            <a:r>
              <a:rPr lang="zh-CN" altLang="en-US" sz="2400" b="1" dirty="0"/>
              <a:t>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r>
              <a:rPr lang="en-US" altLang="zh-CN" sz="2000" dirty="0" smtClean="0">
                <a:hlinkClick r:id="rId3" action="ppaction://hlinkfile"/>
              </a:rPr>
              <a:t>..\</a:t>
            </a:r>
            <a:r>
              <a:rPr lang="zh-CN" altLang="en-US" sz="2000" dirty="0" smtClean="0">
                <a:hlinkClick r:id="rId3" action="ppaction://hlinkfile"/>
              </a:rPr>
              <a:t>客户需求</a:t>
            </a:r>
            <a:r>
              <a:rPr lang="en-US" altLang="zh-CN" sz="2000" dirty="0" smtClean="0">
                <a:hlinkClick r:id="rId3" action="ppaction://hlinkfile"/>
              </a:rPr>
              <a:t>\06_SGMW\01_Requirement_Engineering\04-Function\SGMW_F511S_CR5CB_Blindness Strategy_V1.0.pdf</a:t>
            </a:r>
            <a:endParaRPr lang="en-US" altLang="zh-CN" sz="2000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470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Function</a:t>
            </a:r>
            <a:r>
              <a:rPr lang="zh-CN" altLang="en-US" sz="3200" b="1" dirty="0"/>
              <a:t>模块</a:t>
            </a:r>
            <a:endParaRPr lang="en-US" altLang="zh-CN" sz="3200" b="1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4091814"/>
              </p:ext>
            </p:extLst>
          </p:nvPr>
        </p:nvGraphicFramePr>
        <p:xfrm>
          <a:off x="580102" y="1173521"/>
          <a:ext cx="8967020" cy="2965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98998">
                  <a:extLst>
                    <a:ext uri="{9D8B030D-6E8A-4147-A177-3AD203B41FA5}">
                      <a16:colId xmlns:a16="http://schemas.microsoft.com/office/drawing/2014/main" val="1695655476"/>
                    </a:ext>
                  </a:extLst>
                </a:gridCol>
                <a:gridCol w="4667739">
                  <a:extLst>
                    <a:ext uri="{9D8B030D-6E8A-4147-A177-3AD203B41FA5}">
                      <a16:colId xmlns:a16="http://schemas.microsoft.com/office/drawing/2014/main" val="738831304"/>
                    </a:ext>
                  </a:extLst>
                </a:gridCol>
                <a:gridCol w="1769806">
                  <a:extLst>
                    <a:ext uri="{9D8B030D-6E8A-4147-A177-3AD203B41FA5}">
                      <a16:colId xmlns:a16="http://schemas.microsoft.com/office/drawing/2014/main" val="2926441967"/>
                    </a:ext>
                  </a:extLst>
                </a:gridCol>
                <a:gridCol w="1730477">
                  <a:extLst>
                    <a:ext uri="{9D8B030D-6E8A-4147-A177-3AD203B41FA5}">
                      <a16:colId xmlns:a16="http://schemas.microsoft.com/office/drawing/2014/main" val="3060203295"/>
                    </a:ext>
                  </a:extLst>
                </a:gridCol>
              </a:tblGrid>
              <a:tr h="4039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 smtClean="0">
                          <a:effectLst/>
                        </a:rPr>
                        <a:t>Function-Alignment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498545"/>
                  </a:ext>
                </a:extLst>
              </a:tr>
              <a:tr h="4039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1600" u="none" strike="noStrike" dirty="0" smtClean="0">
                          <a:effectLst/>
                        </a:rPr>
                        <a:t>OA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在线校准（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Online Alignment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范围</a:t>
                      </a:r>
                      <a:endParaRPr lang="en-US" altLang="zh-CN" sz="1600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（？）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 smtClean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？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0669614"/>
                  </a:ext>
                </a:extLst>
              </a:tr>
              <a:tr h="8078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 smtClean="0">
                          <a:effectLst/>
                        </a:rPr>
                        <a:t>SA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标定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(Service Alignment)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0726336"/>
                  </a:ext>
                </a:extLst>
              </a:tr>
              <a:tr h="8078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u="none" strike="noStrike" dirty="0" smtClean="0">
                          <a:effectLst/>
                        </a:rPr>
                        <a:t>EOL-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动态校准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3287196"/>
                  </a:ext>
                </a:extLst>
              </a:tr>
              <a:tr h="5423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u="none" strike="noStrike" dirty="0" smtClean="0">
                          <a:effectLst/>
                        </a:rPr>
                        <a:t>EOL-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下线静态校准</a:t>
                      </a:r>
                      <a:endParaRPr lang="zh-CN" altLang="en-US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789415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681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Function</a:t>
            </a:r>
            <a:r>
              <a:rPr lang="zh-CN" altLang="en-US" sz="3200" b="1" dirty="0"/>
              <a:t>模块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22553" y="1114604"/>
            <a:ext cx="8485239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altLang="zh-CN" sz="2400" b="1" dirty="0"/>
              <a:t>Function-Alignment</a:t>
            </a:r>
            <a:endParaRPr lang="en-US" altLang="zh-CN" sz="2400" b="1" dirty="0">
              <a:solidFill>
                <a:srgbClr val="000000"/>
              </a:solidFill>
              <a:latin typeface="等线" panose="02010600030101010101" pitchFamily="2" charset="-122"/>
            </a:endParaRPr>
          </a:p>
          <a:p>
            <a:r>
              <a:rPr lang="zh-CN" altLang="en-US" sz="2400" b="1" dirty="0" smtClean="0"/>
              <a:t>平台需求</a:t>
            </a:r>
            <a:r>
              <a:rPr lang="zh-CN" altLang="en-US" sz="2400" b="1" dirty="0"/>
              <a:t>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r>
              <a:rPr lang="en-US" altLang="zh-CN" dirty="0" smtClean="0">
                <a:hlinkClick r:id="rId3" action="ppaction://hlinkfile"/>
              </a:rPr>
              <a:t>..\</a:t>
            </a:r>
            <a:r>
              <a:rPr lang="zh-CN" altLang="en-US" dirty="0" smtClean="0">
                <a:hlinkClick r:id="rId3" action="ppaction://hlinkfile"/>
              </a:rPr>
              <a:t>标定</a:t>
            </a:r>
            <a:r>
              <a:rPr lang="en-US" altLang="zh-CN" dirty="0" smtClean="0">
                <a:hlinkClick r:id="rId3" action="ppaction://hlinkfile"/>
              </a:rPr>
              <a:t>\EOL</a:t>
            </a:r>
            <a:r>
              <a:rPr lang="zh-CN" altLang="en-US" dirty="0" smtClean="0">
                <a:hlinkClick r:id="rId3" action="ppaction://hlinkfile"/>
              </a:rPr>
              <a:t>动态校准功能开发需求</a:t>
            </a:r>
            <a:r>
              <a:rPr lang="en-US" altLang="zh-CN" dirty="0" smtClean="0">
                <a:hlinkClick r:id="rId3" action="ppaction://hlinkfile"/>
              </a:rPr>
              <a:t>.</a:t>
            </a:r>
            <a:r>
              <a:rPr lang="en-US" altLang="zh-CN" dirty="0" err="1" smtClean="0">
                <a:hlinkClick r:id="rId3" action="ppaction://hlinkfile"/>
              </a:rPr>
              <a:t>docx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>
                <a:hlinkClick r:id="rId4" action="ppaction://hlinkfile"/>
              </a:rPr>
              <a:t>..\</a:t>
            </a:r>
            <a:r>
              <a:rPr lang="zh-CN" altLang="en-US" dirty="0" smtClean="0">
                <a:hlinkClick r:id="rId4" action="ppaction://hlinkfile"/>
              </a:rPr>
              <a:t>标定</a:t>
            </a:r>
            <a:r>
              <a:rPr lang="en-US" altLang="zh-CN" dirty="0" smtClean="0">
                <a:hlinkClick r:id="rId4" action="ppaction://hlinkfile"/>
              </a:rPr>
              <a:t>\EOL</a:t>
            </a:r>
            <a:r>
              <a:rPr lang="zh-CN" altLang="en-US" dirty="0" smtClean="0">
                <a:hlinkClick r:id="rId4" action="ppaction://hlinkfile"/>
              </a:rPr>
              <a:t>下线静态校准流程规范</a:t>
            </a:r>
            <a:r>
              <a:rPr lang="en-US" altLang="zh-CN" dirty="0" smtClean="0">
                <a:hlinkClick r:id="rId4" action="ppaction://hlinkfile"/>
              </a:rPr>
              <a:t>.</a:t>
            </a:r>
            <a:r>
              <a:rPr lang="en-US" altLang="zh-CN" dirty="0" err="1" smtClean="0">
                <a:hlinkClick r:id="rId4" action="ppaction://hlinkfile"/>
              </a:rPr>
              <a:t>docx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>
                <a:hlinkClick r:id="rId5" action="ppaction://hlinkfile"/>
              </a:rPr>
              <a:t>..\</a:t>
            </a:r>
            <a:r>
              <a:rPr lang="zh-CN" altLang="en-US" dirty="0" smtClean="0">
                <a:hlinkClick r:id="rId5" action="ppaction://hlinkfile"/>
              </a:rPr>
              <a:t>标定</a:t>
            </a:r>
            <a:r>
              <a:rPr lang="en-US" altLang="zh-CN" dirty="0" smtClean="0">
                <a:hlinkClick r:id="rId5" action="ppaction://hlinkfile"/>
              </a:rPr>
              <a:t>\OA</a:t>
            </a:r>
            <a:r>
              <a:rPr lang="zh-CN" altLang="en-US" dirty="0" smtClean="0">
                <a:hlinkClick r:id="rId5" action="ppaction://hlinkfile"/>
              </a:rPr>
              <a:t>功能开发需求</a:t>
            </a:r>
            <a:r>
              <a:rPr lang="en-US" altLang="zh-CN" dirty="0" smtClean="0">
                <a:hlinkClick r:id="rId5" action="ppaction://hlinkfile"/>
              </a:rPr>
              <a:t>.</a:t>
            </a:r>
            <a:r>
              <a:rPr lang="en-US" altLang="zh-CN" dirty="0" err="1" smtClean="0">
                <a:hlinkClick r:id="rId5" action="ppaction://hlinkfile"/>
              </a:rPr>
              <a:t>docx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>
                <a:hlinkClick r:id="rId6" action="ppaction://hlinkfile"/>
              </a:rPr>
              <a:t>..\</a:t>
            </a:r>
            <a:r>
              <a:rPr lang="zh-CN" altLang="en-US" dirty="0" smtClean="0">
                <a:hlinkClick r:id="rId6" action="ppaction://hlinkfile"/>
              </a:rPr>
              <a:t>标定</a:t>
            </a:r>
            <a:r>
              <a:rPr lang="en-US" altLang="zh-CN" dirty="0" smtClean="0">
                <a:hlinkClick r:id="rId6" action="ppaction://hlinkfile"/>
              </a:rPr>
              <a:t>\SA</a:t>
            </a:r>
            <a:r>
              <a:rPr lang="zh-CN" altLang="en-US" dirty="0" smtClean="0">
                <a:hlinkClick r:id="rId6" action="ppaction://hlinkfile"/>
              </a:rPr>
              <a:t>功能开发需求</a:t>
            </a:r>
            <a:r>
              <a:rPr lang="en-US" altLang="zh-CN" dirty="0" smtClean="0">
                <a:hlinkClick r:id="rId6" action="ppaction://hlinkfile"/>
              </a:rPr>
              <a:t>.</a:t>
            </a:r>
            <a:r>
              <a:rPr lang="en-US" altLang="zh-CN" dirty="0" err="1" smtClean="0">
                <a:hlinkClick r:id="rId6" action="ppaction://hlinkfile"/>
              </a:rPr>
              <a:t>docx</a:t>
            </a:r>
            <a:endParaRPr lang="en-US" altLang="zh-CN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69739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0927937"/>
              </p:ext>
            </p:extLst>
          </p:nvPr>
        </p:nvGraphicFramePr>
        <p:xfrm>
          <a:off x="1032386" y="1773289"/>
          <a:ext cx="8660147" cy="30188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92125">
                  <a:extLst>
                    <a:ext uri="{9D8B030D-6E8A-4147-A177-3AD203B41FA5}">
                      <a16:colId xmlns:a16="http://schemas.microsoft.com/office/drawing/2014/main" val="1695655476"/>
                    </a:ext>
                  </a:extLst>
                </a:gridCol>
                <a:gridCol w="4667739">
                  <a:extLst>
                    <a:ext uri="{9D8B030D-6E8A-4147-A177-3AD203B41FA5}">
                      <a16:colId xmlns:a16="http://schemas.microsoft.com/office/drawing/2014/main" val="738831304"/>
                    </a:ext>
                  </a:extLst>
                </a:gridCol>
                <a:gridCol w="1769806">
                  <a:extLst>
                    <a:ext uri="{9D8B030D-6E8A-4147-A177-3AD203B41FA5}">
                      <a16:colId xmlns:a16="http://schemas.microsoft.com/office/drawing/2014/main" val="2926441967"/>
                    </a:ext>
                  </a:extLst>
                </a:gridCol>
                <a:gridCol w="1730477">
                  <a:extLst>
                    <a:ext uri="{9D8B030D-6E8A-4147-A177-3AD203B41FA5}">
                      <a16:colId xmlns:a16="http://schemas.microsoft.com/office/drawing/2014/main" val="3060203295"/>
                    </a:ext>
                  </a:extLst>
                </a:gridCol>
              </a:tblGrid>
              <a:tr h="40391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000" b="1" u="none" strike="noStrike" dirty="0">
                          <a:effectLst/>
                        </a:rPr>
                        <a:t>No: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000" b="1" u="none" strike="noStrike" dirty="0" smtClean="0">
                          <a:effectLst/>
                        </a:rPr>
                        <a:t>KPI </a:t>
                      </a:r>
                      <a:r>
                        <a:rPr lang="zh-CN" altLang="en-US" sz="2000" b="1" u="none" strike="noStrike" dirty="0" smtClean="0">
                          <a:effectLst/>
                        </a:rPr>
                        <a:t>验收内容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zh-CN" altLang="en-US" sz="2000" b="1" u="none" strike="noStrike" dirty="0">
                          <a:effectLst/>
                        </a:rPr>
                        <a:t>范围</a:t>
                      </a:r>
                      <a:endParaRPr lang="zh-CN" alt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498545"/>
                  </a:ext>
                </a:extLst>
              </a:tr>
              <a:tr h="4552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1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各功能指标</a:t>
                      </a:r>
                      <a:endParaRPr lang="en-US" altLang="zh-C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l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如： 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DOW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等：误报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漏报率 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报警时间要求</a:t>
                      </a:r>
                      <a:endParaRPr lang="en-US" altLang="zh-CN" sz="1600" b="0" i="0" u="none" strike="noStrike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l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       Alignment: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激活时间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角度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路况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/…</a:t>
                      </a:r>
                    </a:p>
                    <a:p>
                      <a:pPr algn="l" fontAlgn="ctr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       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遮挡：路况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时间要求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/…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五菱验收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范围</a:t>
                      </a:r>
                      <a:endParaRPr lang="en-US" altLang="zh-CN" sz="1600" u="none" strike="noStrike" dirty="0" smtClean="0">
                        <a:effectLst/>
                      </a:endParaRPr>
                    </a:p>
                    <a:p>
                      <a:pPr algn="ctr" fontAlgn="ctr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（？）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600" u="none" strike="noStrike" dirty="0">
                          <a:effectLst/>
                        </a:rPr>
                        <a:t>全功能验收</a:t>
                      </a:r>
                      <a:br>
                        <a:rPr lang="zh-CN" altLang="en-US" sz="1600" u="none" strike="noStrike" dirty="0">
                          <a:effectLst/>
                        </a:rPr>
                      </a:br>
                      <a:r>
                        <a:rPr lang="en-US" altLang="zh-CN" sz="1600" u="none" strike="noStrike" dirty="0" smtClean="0">
                          <a:effectLst/>
                        </a:rPr>
                        <a:t>(</a:t>
                      </a:r>
                      <a:r>
                        <a:rPr lang="zh-CN" altLang="en-US" sz="1600" u="none" strike="noStrike" dirty="0" smtClean="0">
                          <a:effectLst/>
                        </a:rPr>
                        <a:t>？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)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90669614"/>
                  </a:ext>
                </a:extLst>
              </a:tr>
              <a:tr h="5454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2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SGU&amp;LGU</a:t>
                      </a:r>
                      <a:r>
                        <a:rPr lang="en-US" altLang="zh-CN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 </a:t>
                      </a:r>
                      <a:r>
                        <a:rPr lang="zh-CN" alt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测试</a:t>
                      </a:r>
                      <a:endParaRPr lang="en-US" altLang="zh-CN" sz="1600" b="0" i="0" u="none" strike="noStrike" baseline="0" dirty="0" smtClean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l" fontAlgn="b"/>
                      <a:r>
                        <a:rPr lang="zh-CN" alt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如：</a:t>
                      </a:r>
                      <a:r>
                        <a:rPr lang="zh-CN" alt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+mn-ea"/>
                        </a:rPr>
                        <a:t>对应场景下，</a:t>
                      </a:r>
                      <a:r>
                        <a:rPr lang="en-US" altLang="zh-CN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signal</a:t>
                      </a:r>
                      <a:r>
                        <a:rPr lang="zh-CN" altLang="en-US" sz="16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实际输出是否正确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200417"/>
                  </a:ext>
                </a:extLst>
              </a:tr>
              <a:tr h="5454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u="none" strike="noStrike" dirty="0">
                          <a:effectLst/>
                        </a:rPr>
                        <a:t>3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 smtClean="0">
                          <a:effectLst/>
                        </a:rPr>
                        <a:t>雷达本身</a:t>
                      </a:r>
                      <a:r>
                        <a:rPr lang="en-US" altLang="zh-CN" sz="1600" u="none" strike="noStrike" dirty="0" smtClean="0">
                          <a:effectLst/>
                        </a:rPr>
                        <a:t>KPI</a:t>
                      </a:r>
                    </a:p>
                    <a:p>
                      <a:pPr algn="l" fontAlgn="b"/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如：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FOV/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探测距离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</a:t>
                      </a:r>
                      <a:r>
                        <a:rPr lang="zh-CN" alt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探测精度</a:t>
                      </a:r>
                      <a:r>
                        <a:rPr lang="en-US" altLang="zh-CN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/…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0648706"/>
                  </a:ext>
                </a:extLst>
              </a:tr>
              <a:tr h="5423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20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  <a:endParaRPr lang="en-US" altLang="zh-CN" sz="2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600" u="none" strike="noStrike" dirty="0" smtClean="0">
                          <a:effectLst/>
                        </a:rPr>
                        <a:t>场地测试</a:t>
                      </a:r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+mn-ea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zh-CN" alt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350" marR="6350" marT="6350" marB="0" anchor="ctr"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797843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920043" y="1095762"/>
            <a:ext cx="97570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 smtClean="0"/>
              <a:t>3</a:t>
            </a:r>
            <a:r>
              <a:rPr lang="zh-CN" altLang="en-US" sz="3200" b="1" dirty="0" smtClean="0"/>
              <a:t>、</a:t>
            </a:r>
            <a:r>
              <a:rPr lang="en-US" altLang="zh-CN" sz="3200" b="1" dirty="0" smtClean="0"/>
              <a:t>KPI </a:t>
            </a:r>
            <a:r>
              <a:rPr lang="zh-CN" altLang="en-US" sz="3200" b="1" dirty="0" smtClean="0"/>
              <a:t>模块验收</a:t>
            </a:r>
            <a:endParaRPr lang="en-US" altLang="zh-CN" sz="3200" b="1" dirty="0" smtClean="0"/>
          </a:p>
        </p:txBody>
      </p:sp>
      <p:sp>
        <p:nvSpPr>
          <p:cNvPr id="6" name="文本框 5"/>
          <p:cNvSpPr txBox="1"/>
          <p:nvPr/>
        </p:nvSpPr>
        <p:spPr>
          <a:xfrm>
            <a:off x="697048" y="128589"/>
            <a:ext cx="82798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 dirty="0" smtClean="0"/>
              <a:t>四、验收</a:t>
            </a:r>
            <a:r>
              <a:rPr lang="zh-CN" altLang="en-US" sz="4000" b="1" dirty="0" smtClean="0"/>
              <a:t>范围</a:t>
            </a:r>
            <a:r>
              <a:rPr lang="zh-CN" altLang="en-US" sz="4000" b="1" dirty="0" smtClean="0"/>
              <a:t>之</a:t>
            </a:r>
            <a:r>
              <a:rPr lang="en-US" altLang="zh-CN" sz="4000" b="1" dirty="0"/>
              <a:t>K</a:t>
            </a:r>
            <a:r>
              <a:rPr lang="en-US" altLang="zh-CN" sz="4000" b="1" dirty="0" smtClean="0"/>
              <a:t>PI</a:t>
            </a:r>
            <a:r>
              <a:rPr lang="zh-CN" altLang="en-US" sz="4000" b="1" dirty="0" smtClean="0"/>
              <a:t>模块</a:t>
            </a:r>
            <a:endParaRPr lang="en-US" altLang="zh-CN" sz="4000" b="1" dirty="0" smtClean="0"/>
          </a:p>
        </p:txBody>
      </p:sp>
    </p:spTree>
    <p:extLst>
      <p:ext uri="{BB962C8B-B14F-4D97-AF65-F5344CB8AC3E}">
        <p14:creationId xmlns:p14="http://schemas.microsoft.com/office/powerpoint/2010/main" val="3237757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1749909" y="6522191"/>
            <a:ext cx="756000" cy="229235"/>
          </a:xfrm>
        </p:spPr>
        <p:txBody>
          <a:bodyPr/>
          <a:lstStyle/>
          <a:p>
            <a:fld id="{A945B8A5-6206-4EF3-8E0D-3213A5366205}" type="datetime1">
              <a:rPr lang="zh-CN" altLang="en-US" smtClean="0"/>
              <a:t>2025/10/15</a:t>
            </a:fld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673727" y="175868"/>
            <a:ext cx="60318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Wingdings" panose="05000000000000000000" pitchFamily="2" charset="2"/>
              <a:buChar char="n"/>
            </a:pPr>
            <a:r>
              <a:rPr lang="en-US" altLang="zh-CN" sz="3200" b="1" dirty="0" smtClean="0"/>
              <a:t>KPI</a:t>
            </a:r>
            <a:r>
              <a:rPr lang="zh-CN" altLang="en-US" sz="3200" b="1" dirty="0" smtClean="0"/>
              <a:t>模块</a:t>
            </a:r>
            <a:endParaRPr lang="en-US" altLang="zh-CN" sz="32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1081546" y="1144101"/>
            <a:ext cx="848523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 smtClean="0"/>
              <a:t>相关</a:t>
            </a:r>
            <a:r>
              <a:rPr lang="zh-CN" altLang="en-US" sz="2400" b="1" dirty="0" smtClean="0"/>
              <a:t>需求</a:t>
            </a:r>
            <a:r>
              <a:rPr lang="zh-CN" altLang="en-US" sz="2400" b="1" dirty="0"/>
              <a:t>文档</a:t>
            </a:r>
            <a:r>
              <a:rPr lang="zh-CN" altLang="en-US" sz="2400" b="1" dirty="0" smtClean="0"/>
              <a:t>：</a:t>
            </a:r>
            <a:endParaRPr lang="en-US" altLang="zh-CN" sz="2400" b="1" dirty="0" smtClean="0"/>
          </a:p>
          <a:p>
            <a:r>
              <a:rPr lang="en-US" altLang="zh-CN" sz="2000" dirty="0" smtClean="0"/>
              <a:t>?????</a:t>
            </a:r>
            <a:endParaRPr lang="en-US" altLang="zh-CN" sz="2000" dirty="0" smtClean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05267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862"/>
          <a:stretch>
            <a:fillRect/>
          </a:stretch>
        </p:blipFill>
        <p:spPr>
          <a:xfrm>
            <a:off x="433279" y="3481322"/>
            <a:ext cx="11070462" cy="286851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0222" y="579833"/>
            <a:ext cx="3115326" cy="49991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 l="3058" t="82323" r="343" b="11917"/>
          <a:stretch>
            <a:fillRect/>
          </a:stretch>
        </p:blipFill>
        <p:spPr>
          <a:xfrm>
            <a:off x="3808" y="6210386"/>
            <a:ext cx="12188192" cy="64761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 l="9272" t="25654" r="9663" b="28683"/>
          <a:stretch>
            <a:fillRect/>
          </a:stretch>
        </p:blipFill>
        <p:spPr>
          <a:xfrm>
            <a:off x="310164" y="364296"/>
            <a:ext cx="3110400" cy="576000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-9641" y="6100633"/>
            <a:ext cx="12201641" cy="109753"/>
            <a:chOff x="-11190" y="4146896"/>
            <a:chExt cx="12201641" cy="109753"/>
          </a:xfrm>
        </p:grpSpPr>
        <p:grpSp>
          <p:nvGrpSpPr>
            <p:cNvPr id="10" name="组合 9"/>
            <p:cNvGrpSpPr/>
            <p:nvPr/>
          </p:nvGrpSpPr>
          <p:grpSpPr>
            <a:xfrm>
              <a:off x="-11190" y="4146896"/>
              <a:ext cx="10937156" cy="109753"/>
              <a:chOff x="-11190" y="4146896"/>
              <a:chExt cx="10937156" cy="109753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-11190" y="4146896"/>
                <a:ext cx="7153101" cy="109753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7129376" y="4146896"/>
                <a:ext cx="1266051" cy="109753"/>
              </a:xfrm>
              <a:prstGeom prst="rect">
                <a:avLst/>
              </a:prstGeom>
              <a:solidFill>
                <a:srgbClr val="87CFE6"/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" name="Rectangle 6"/>
              <p:cNvSpPr>
                <a:spLocks noChangeArrowheads="1"/>
              </p:cNvSpPr>
              <p:nvPr/>
            </p:nvSpPr>
            <p:spPr bwMode="auto">
              <a:xfrm>
                <a:off x="8395429" y="4146896"/>
                <a:ext cx="1264485" cy="109753"/>
              </a:xfrm>
              <a:prstGeom prst="rect">
                <a:avLst/>
              </a:prstGeom>
              <a:solidFill>
                <a:srgbClr val="71AF3A"/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Rectangle 9"/>
              <p:cNvSpPr>
                <a:spLocks noChangeArrowheads="1"/>
              </p:cNvSpPr>
              <p:nvPr/>
            </p:nvSpPr>
            <p:spPr bwMode="auto">
              <a:xfrm>
                <a:off x="9659915" y="4146896"/>
                <a:ext cx="1266051" cy="109753"/>
              </a:xfrm>
              <a:prstGeom prst="rect">
                <a:avLst/>
              </a:prstGeom>
              <a:solidFill>
                <a:srgbClr val="0075BE"/>
              </a:solidFill>
              <a:ln>
                <a:noFill/>
              </a:ln>
            </p:spPr>
            <p:txBody>
              <a:bodyPr vert="horz" wrap="square" lIns="91404" tIns="45702" rIns="91404" bIns="45702" numCol="1" anchor="t" anchorCtr="0" compatLnSpc="1"/>
              <a:lstStyle/>
              <a:p>
                <a:endParaRPr lang="zh-CN" altLang="en-US" sz="2400">
                  <a:solidFill>
                    <a:srgbClr val="44546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0925966" y="4146896"/>
              <a:ext cx="1264485" cy="109753"/>
            </a:xfrm>
            <a:prstGeom prst="rect">
              <a:avLst/>
            </a:prstGeom>
            <a:solidFill>
              <a:srgbClr val="ED6C00"/>
            </a:solidFill>
            <a:ln>
              <a:noFill/>
            </a:ln>
          </p:spPr>
          <p:txBody>
            <a:bodyPr vert="horz" wrap="square" lIns="91404" tIns="45702" rIns="91404" bIns="45702" numCol="1" anchor="t" anchorCtr="0" compatLnSpc="1"/>
            <a:lstStyle/>
            <a:p>
              <a:endParaRPr lang="zh-CN" altLang="en-US" sz="2400">
                <a:solidFill>
                  <a:srgbClr val="44546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FSHAPE" val="138355692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13128</TotalTime>
  <Words>1324</Words>
  <Application>Microsoft Office PowerPoint</Application>
  <PresentationFormat>宽屏</PresentationFormat>
  <Paragraphs>425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Heiti SC Light</vt:lpstr>
      <vt:lpstr>等线</vt:lpstr>
      <vt:lpstr>黑体</vt:lpstr>
      <vt:lpstr>楷体</vt:lpstr>
      <vt:lpstr>宋体</vt:lpstr>
      <vt:lpstr>微软雅黑</vt:lpstr>
      <vt:lpstr>Arial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王冕嘉</dc:creator>
  <cp:lastModifiedBy>高洋洋 (WFSS/TEC)</cp:lastModifiedBy>
  <cp:revision>568</cp:revision>
  <cp:lastPrinted>2021-01-21T11:58:00Z</cp:lastPrinted>
  <dcterms:created xsi:type="dcterms:W3CDTF">2020-12-22T02:42:00Z</dcterms:created>
  <dcterms:modified xsi:type="dcterms:W3CDTF">2025-10-17T05:59:36Z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697A19D1AC284471B868CA589AC2A248_12</vt:lpwstr>
  </property>
  <property fmtid="{D5CDD505-2E9C-101B-9397-08002B2CF9AE}" pid="3" name="KSOProductBuildVer">
    <vt:lpwstr>2052-12.1.0.22529</vt:lpwstr>
  </property>
</Properties>
</file>